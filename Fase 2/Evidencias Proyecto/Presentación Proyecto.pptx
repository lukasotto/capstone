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unito Bold" charset="1" panose="00000000000000000000"/>
      <p:regular r:id="rId25"/>
    </p:embeddedFont>
    <p:embeddedFont>
      <p:font typeface="PT Sans" charset="1" panose="020B0503020203020204"/>
      <p:regular r:id="rId27"/>
    </p:embeddedFont>
    <p:embeddedFont>
      <p:font typeface="PT Sans Bold" charset="1" panose="020B0703020203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9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50.png" Type="http://schemas.openxmlformats.org/officeDocument/2006/relationships/image"/><Relationship Id="rId14" Target="../media/image51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9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73.jpeg" Type="http://schemas.openxmlformats.org/officeDocument/2006/relationships/image"/><Relationship Id="rId5" Target="../media/VAG5FMwtTRU.mp4" Type="http://schemas.openxmlformats.org/officeDocument/2006/relationships/video"/><Relationship Id="rId6" Target="../media/VAG5FMwtTRU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9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svg" Type="http://schemas.openxmlformats.org/officeDocument/2006/relationships/image"/><Relationship Id="rId12" Target="../media/image86.png" Type="http://schemas.openxmlformats.org/officeDocument/2006/relationships/image"/><Relationship Id="rId13" Target="../media/image87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11" Target="../media/image95.svg" Type="http://schemas.openxmlformats.org/officeDocument/2006/relationships/image"/><Relationship Id="rId12" Target="../media/image96.png" Type="http://schemas.openxmlformats.org/officeDocument/2006/relationships/image"/><Relationship Id="rId13" Target="../media/image97.sv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90.png" Type="http://schemas.openxmlformats.org/officeDocument/2006/relationships/image"/><Relationship Id="rId7" Target="../media/image91.svg" Type="http://schemas.openxmlformats.org/officeDocument/2006/relationships/image"/><Relationship Id="rId8" Target="../media/image92.png" Type="http://schemas.openxmlformats.org/officeDocument/2006/relationships/image"/><Relationship Id="rId9" Target="../media/image9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723085"/>
            <a:chOff x="0" y="0"/>
            <a:chExt cx="24384000" cy="496411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964176"/>
            </a:xfrm>
            <a:custGeom>
              <a:avLst/>
              <a:gdLst/>
              <a:ahLst/>
              <a:cxnLst/>
              <a:rect r="r" b="b" t="t" l="l"/>
              <a:pathLst>
                <a:path h="49641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64176"/>
                  </a:lnTo>
                  <a:lnTo>
                    <a:pt x="0" y="4964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" r="0" b="-1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2392" y="4486424"/>
            <a:ext cx="14016335" cy="180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50"/>
              </a:lnSpc>
            </a:pPr>
            <a:r>
              <a:rPr lang="en-US" sz="110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Proyecto Capstone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392" y="6685061"/>
            <a:ext cx="14016335" cy="180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50"/>
              </a:lnSpc>
            </a:pPr>
            <a:r>
              <a:rPr lang="en-US" sz="110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Gear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2392" y="8912275"/>
            <a:ext cx="7092106" cy="554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2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Docente: Félix Eduardo Cifuentes Cid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435894"/>
            <a:ext cx="7852022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Integrantes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2847678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Conozca al equipo detrás de Gear Management y sus roles clave en el desarrollo de nuestra solución: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105" y="3739157"/>
            <a:ext cx="5236517" cy="5102275"/>
            <a:chOff x="0" y="0"/>
            <a:chExt cx="6982023" cy="68030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931152" cy="6752209"/>
            </a:xfrm>
            <a:custGeom>
              <a:avLst/>
              <a:gdLst/>
              <a:ahLst/>
              <a:cxnLst/>
              <a:rect r="r" b="b" t="t" l="l"/>
              <a:pathLst>
                <a:path h="6752209" w="6931152">
                  <a:moveTo>
                    <a:pt x="0" y="598424"/>
                  </a:moveTo>
                  <a:cubicBezTo>
                    <a:pt x="0" y="267970"/>
                    <a:pt x="267970" y="0"/>
                    <a:pt x="598551" y="0"/>
                  </a:cubicBezTo>
                  <a:lnTo>
                    <a:pt x="6332601" y="0"/>
                  </a:lnTo>
                  <a:cubicBezTo>
                    <a:pt x="6663182" y="0"/>
                    <a:pt x="6931152" y="267970"/>
                    <a:pt x="6931152" y="598424"/>
                  </a:cubicBezTo>
                  <a:lnTo>
                    <a:pt x="6931152" y="6153785"/>
                  </a:lnTo>
                  <a:cubicBezTo>
                    <a:pt x="6931152" y="6484239"/>
                    <a:pt x="6663182" y="6752209"/>
                    <a:pt x="6332601" y="6752209"/>
                  </a:cubicBezTo>
                  <a:lnTo>
                    <a:pt x="598551" y="6752209"/>
                  </a:lnTo>
                  <a:cubicBezTo>
                    <a:pt x="267970" y="6752209"/>
                    <a:pt x="0" y="6484239"/>
                    <a:pt x="0" y="615378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1952" cy="6803009"/>
            </a:xfrm>
            <a:custGeom>
              <a:avLst/>
              <a:gdLst/>
              <a:ahLst/>
              <a:cxnLst/>
              <a:rect r="r" b="b" t="t" l="l"/>
              <a:pathLst>
                <a:path h="6803009" w="6981952">
                  <a:moveTo>
                    <a:pt x="0" y="623824"/>
                  </a:moveTo>
                  <a:cubicBezTo>
                    <a:pt x="0" y="279273"/>
                    <a:pt x="279400" y="0"/>
                    <a:pt x="623951" y="0"/>
                  </a:cubicBezTo>
                  <a:lnTo>
                    <a:pt x="6358001" y="0"/>
                  </a:lnTo>
                  <a:lnTo>
                    <a:pt x="6358001" y="25400"/>
                  </a:lnTo>
                  <a:lnTo>
                    <a:pt x="6358001" y="0"/>
                  </a:lnTo>
                  <a:cubicBezTo>
                    <a:pt x="6702552" y="0"/>
                    <a:pt x="6981952" y="279273"/>
                    <a:pt x="6981952" y="623824"/>
                  </a:cubicBezTo>
                  <a:lnTo>
                    <a:pt x="6956552" y="623824"/>
                  </a:lnTo>
                  <a:lnTo>
                    <a:pt x="6981952" y="623824"/>
                  </a:lnTo>
                  <a:lnTo>
                    <a:pt x="6981952" y="6179185"/>
                  </a:lnTo>
                  <a:lnTo>
                    <a:pt x="6956552" y="6179185"/>
                  </a:lnTo>
                  <a:lnTo>
                    <a:pt x="6981952" y="6179185"/>
                  </a:lnTo>
                  <a:cubicBezTo>
                    <a:pt x="6981952" y="6523736"/>
                    <a:pt x="6702552" y="6803009"/>
                    <a:pt x="6358001" y="6803009"/>
                  </a:cubicBezTo>
                  <a:lnTo>
                    <a:pt x="6358001" y="6777609"/>
                  </a:lnTo>
                  <a:lnTo>
                    <a:pt x="6358001" y="6803009"/>
                  </a:lnTo>
                  <a:lnTo>
                    <a:pt x="623951" y="6803009"/>
                  </a:lnTo>
                  <a:lnTo>
                    <a:pt x="623951" y="6777609"/>
                  </a:lnTo>
                  <a:lnTo>
                    <a:pt x="623951" y="6803009"/>
                  </a:lnTo>
                  <a:cubicBezTo>
                    <a:pt x="279400" y="6803009"/>
                    <a:pt x="0" y="6523736"/>
                    <a:pt x="0" y="6179185"/>
                  </a:cubicBezTo>
                  <a:lnTo>
                    <a:pt x="0" y="623824"/>
                  </a:lnTo>
                  <a:lnTo>
                    <a:pt x="25400" y="623824"/>
                  </a:lnTo>
                  <a:lnTo>
                    <a:pt x="0" y="623824"/>
                  </a:lnTo>
                  <a:moveTo>
                    <a:pt x="50800" y="623824"/>
                  </a:moveTo>
                  <a:lnTo>
                    <a:pt x="50800" y="6179185"/>
                  </a:lnTo>
                  <a:lnTo>
                    <a:pt x="25400" y="6179185"/>
                  </a:lnTo>
                  <a:lnTo>
                    <a:pt x="50800" y="6179185"/>
                  </a:lnTo>
                  <a:cubicBezTo>
                    <a:pt x="50800" y="6495669"/>
                    <a:pt x="307467" y="6752209"/>
                    <a:pt x="623951" y="6752209"/>
                  </a:cubicBezTo>
                  <a:lnTo>
                    <a:pt x="6358001" y="6752209"/>
                  </a:lnTo>
                  <a:cubicBezTo>
                    <a:pt x="6674612" y="6752209"/>
                    <a:pt x="6931152" y="6495669"/>
                    <a:pt x="6931152" y="6179185"/>
                  </a:cubicBezTo>
                  <a:lnTo>
                    <a:pt x="6931152" y="623824"/>
                  </a:lnTo>
                  <a:cubicBezTo>
                    <a:pt x="6931279" y="307340"/>
                    <a:pt x="6674612" y="50800"/>
                    <a:pt x="6358001" y="50800"/>
                  </a:cubicBezTo>
                  <a:lnTo>
                    <a:pt x="623951" y="50800"/>
                  </a:lnTo>
                  <a:lnTo>
                    <a:pt x="623951" y="25400"/>
                  </a:lnTo>
                  <a:lnTo>
                    <a:pt x="623951" y="50800"/>
                  </a:lnTo>
                  <a:cubicBezTo>
                    <a:pt x="307467" y="50800"/>
                    <a:pt x="50800" y="307340"/>
                    <a:pt x="50800" y="623824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85255" y="3796307"/>
            <a:ext cx="5122217" cy="897582"/>
            <a:chOff x="0" y="0"/>
            <a:chExt cx="6829623" cy="11967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9552" cy="1196721"/>
            </a:xfrm>
            <a:custGeom>
              <a:avLst/>
              <a:gdLst/>
              <a:ahLst/>
              <a:cxnLst/>
              <a:rect r="r" b="b" t="t" l="l"/>
              <a:pathLst>
                <a:path h="1196721" w="6829552">
                  <a:moveTo>
                    <a:pt x="0" y="537464"/>
                  </a:moveTo>
                  <a:cubicBezTo>
                    <a:pt x="0" y="240665"/>
                    <a:pt x="240665" y="0"/>
                    <a:pt x="537464" y="0"/>
                  </a:cubicBezTo>
                  <a:lnTo>
                    <a:pt x="6292088" y="0"/>
                  </a:lnTo>
                  <a:cubicBezTo>
                    <a:pt x="6588887" y="0"/>
                    <a:pt x="6829552" y="240665"/>
                    <a:pt x="6829552" y="537464"/>
                  </a:cubicBezTo>
                  <a:lnTo>
                    <a:pt x="6829552" y="659257"/>
                  </a:lnTo>
                  <a:cubicBezTo>
                    <a:pt x="6829552" y="956056"/>
                    <a:pt x="6588887" y="1196721"/>
                    <a:pt x="6292088" y="1196721"/>
                  </a:cubicBezTo>
                  <a:lnTo>
                    <a:pt x="537464" y="1196721"/>
                  </a:lnTo>
                  <a:cubicBezTo>
                    <a:pt x="240665" y="1196721"/>
                    <a:pt x="0" y="956183"/>
                    <a:pt x="0" y="659257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3422005" y="4006454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6" y="0"/>
                </a:lnTo>
                <a:lnTo>
                  <a:pt x="448716" y="448716"/>
                </a:lnTo>
                <a:lnTo>
                  <a:pt x="0" y="448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375" r="0" b="-937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4399" y="4973985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Ismael Doria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4399" y="5517208"/>
            <a:ext cx="4523929" cy="296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Líder de Proyecto, encargado de la integración en Google Cloud Platform y configuración de dashboards en Looker Studio. Gestiona el equipo bajo metodología Scrum.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5666" y="3739157"/>
            <a:ext cx="5236517" cy="5102275"/>
            <a:chOff x="0" y="0"/>
            <a:chExt cx="6982023" cy="68030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6931152" cy="6752209"/>
            </a:xfrm>
            <a:custGeom>
              <a:avLst/>
              <a:gdLst/>
              <a:ahLst/>
              <a:cxnLst/>
              <a:rect r="r" b="b" t="t" l="l"/>
              <a:pathLst>
                <a:path h="6752209" w="6931152">
                  <a:moveTo>
                    <a:pt x="0" y="598424"/>
                  </a:moveTo>
                  <a:cubicBezTo>
                    <a:pt x="0" y="267970"/>
                    <a:pt x="267970" y="0"/>
                    <a:pt x="598551" y="0"/>
                  </a:cubicBezTo>
                  <a:lnTo>
                    <a:pt x="6332601" y="0"/>
                  </a:lnTo>
                  <a:cubicBezTo>
                    <a:pt x="6663182" y="0"/>
                    <a:pt x="6931152" y="267970"/>
                    <a:pt x="6931152" y="598424"/>
                  </a:cubicBezTo>
                  <a:lnTo>
                    <a:pt x="6931152" y="6153785"/>
                  </a:lnTo>
                  <a:cubicBezTo>
                    <a:pt x="6931152" y="6484239"/>
                    <a:pt x="6663182" y="6752209"/>
                    <a:pt x="6332601" y="6752209"/>
                  </a:cubicBezTo>
                  <a:lnTo>
                    <a:pt x="598551" y="6752209"/>
                  </a:lnTo>
                  <a:cubicBezTo>
                    <a:pt x="267970" y="6752209"/>
                    <a:pt x="0" y="6484239"/>
                    <a:pt x="0" y="615378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1952" cy="6803009"/>
            </a:xfrm>
            <a:custGeom>
              <a:avLst/>
              <a:gdLst/>
              <a:ahLst/>
              <a:cxnLst/>
              <a:rect r="r" b="b" t="t" l="l"/>
              <a:pathLst>
                <a:path h="6803009" w="6981952">
                  <a:moveTo>
                    <a:pt x="0" y="623824"/>
                  </a:moveTo>
                  <a:cubicBezTo>
                    <a:pt x="0" y="279273"/>
                    <a:pt x="279400" y="0"/>
                    <a:pt x="623951" y="0"/>
                  </a:cubicBezTo>
                  <a:lnTo>
                    <a:pt x="6358001" y="0"/>
                  </a:lnTo>
                  <a:lnTo>
                    <a:pt x="6358001" y="25400"/>
                  </a:lnTo>
                  <a:lnTo>
                    <a:pt x="6358001" y="0"/>
                  </a:lnTo>
                  <a:cubicBezTo>
                    <a:pt x="6702552" y="0"/>
                    <a:pt x="6981952" y="279273"/>
                    <a:pt x="6981952" y="623824"/>
                  </a:cubicBezTo>
                  <a:lnTo>
                    <a:pt x="6956552" y="623824"/>
                  </a:lnTo>
                  <a:lnTo>
                    <a:pt x="6981952" y="623824"/>
                  </a:lnTo>
                  <a:lnTo>
                    <a:pt x="6981952" y="6179185"/>
                  </a:lnTo>
                  <a:lnTo>
                    <a:pt x="6956552" y="6179185"/>
                  </a:lnTo>
                  <a:lnTo>
                    <a:pt x="6981952" y="6179185"/>
                  </a:lnTo>
                  <a:cubicBezTo>
                    <a:pt x="6981952" y="6523736"/>
                    <a:pt x="6702552" y="6803009"/>
                    <a:pt x="6358001" y="6803009"/>
                  </a:cubicBezTo>
                  <a:lnTo>
                    <a:pt x="6358001" y="6777609"/>
                  </a:lnTo>
                  <a:lnTo>
                    <a:pt x="6358001" y="6803009"/>
                  </a:lnTo>
                  <a:lnTo>
                    <a:pt x="623951" y="6803009"/>
                  </a:lnTo>
                  <a:lnTo>
                    <a:pt x="623951" y="6777609"/>
                  </a:lnTo>
                  <a:lnTo>
                    <a:pt x="623951" y="6803009"/>
                  </a:lnTo>
                  <a:cubicBezTo>
                    <a:pt x="279400" y="6803009"/>
                    <a:pt x="0" y="6523736"/>
                    <a:pt x="0" y="6179185"/>
                  </a:cubicBezTo>
                  <a:lnTo>
                    <a:pt x="0" y="623824"/>
                  </a:lnTo>
                  <a:lnTo>
                    <a:pt x="25400" y="623824"/>
                  </a:lnTo>
                  <a:lnTo>
                    <a:pt x="0" y="623824"/>
                  </a:lnTo>
                  <a:moveTo>
                    <a:pt x="50800" y="623824"/>
                  </a:moveTo>
                  <a:lnTo>
                    <a:pt x="50800" y="6179185"/>
                  </a:lnTo>
                  <a:lnTo>
                    <a:pt x="25400" y="6179185"/>
                  </a:lnTo>
                  <a:lnTo>
                    <a:pt x="50800" y="6179185"/>
                  </a:lnTo>
                  <a:cubicBezTo>
                    <a:pt x="50800" y="6495669"/>
                    <a:pt x="307467" y="6752209"/>
                    <a:pt x="623951" y="6752209"/>
                  </a:cubicBezTo>
                  <a:lnTo>
                    <a:pt x="6358001" y="6752209"/>
                  </a:lnTo>
                  <a:cubicBezTo>
                    <a:pt x="6674612" y="6752209"/>
                    <a:pt x="6931152" y="6495669"/>
                    <a:pt x="6931152" y="6179185"/>
                  </a:cubicBezTo>
                  <a:lnTo>
                    <a:pt x="6931152" y="623824"/>
                  </a:lnTo>
                  <a:cubicBezTo>
                    <a:pt x="6931279" y="307340"/>
                    <a:pt x="6674612" y="50800"/>
                    <a:pt x="6358001" y="50800"/>
                  </a:cubicBezTo>
                  <a:lnTo>
                    <a:pt x="623951" y="50800"/>
                  </a:lnTo>
                  <a:lnTo>
                    <a:pt x="623951" y="25400"/>
                  </a:lnTo>
                  <a:lnTo>
                    <a:pt x="623951" y="50800"/>
                  </a:lnTo>
                  <a:cubicBezTo>
                    <a:pt x="307467" y="50800"/>
                    <a:pt x="50800" y="307340"/>
                    <a:pt x="50800" y="623824"/>
                  </a:cubicBezTo>
                  <a:close/>
                </a:path>
              </a:pathLst>
            </a:custGeom>
            <a:solidFill>
              <a:srgbClr val="D742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82816" y="3796307"/>
            <a:ext cx="5122217" cy="897582"/>
            <a:chOff x="0" y="0"/>
            <a:chExt cx="6829623" cy="11967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9552" cy="1196721"/>
            </a:xfrm>
            <a:custGeom>
              <a:avLst/>
              <a:gdLst/>
              <a:ahLst/>
              <a:cxnLst/>
              <a:rect r="r" b="b" t="t" l="l"/>
              <a:pathLst>
                <a:path h="1196721" w="6829552">
                  <a:moveTo>
                    <a:pt x="0" y="537464"/>
                  </a:moveTo>
                  <a:cubicBezTo>
                    <a:pt x="0" y="240665"/>
                    <a:pt x="240665" y="0"/>
                    <a:pt x="537464" y="0"/>
                  </a:cubicBezTo>
                  <a:lnTo>
                    <a:pt x="6292088" y="0"/>
                  </a:lnTo>
                  <a:cubicBezTo>
                    <a:pt x="6588887" y="0"/>
                    <a:pt x="6829552" y="240665"/>
                    <a:pt x="6829552" y="537464"/>
                  </a:cubicBezTo>
                  <a:lnTo>
                    <a:pt x="6829552" y="659257"/>
                  </a:lnTo>
                  <a:cubicBezTo>
                    <a:pt x="6829552" y="956056"/>
                    <a:pt x="6588887" y="1196721"/>
                    <a:pt x="6292088" y="1196721"/>
                  </a:cubicBezTo>
                  <a:lnTo>
                    <a:pt x="537464" y="1196721"/>
                  </a:lnTo>
                  <a:cubicBezTo>
                    <a:pt x="240665" y="1196721"/>
                    <a:pt x="0" y="956183"/>
                    <a:pt x="0" y="659257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8919568" y="4006454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6" y="0"/>
                </a:lnTo>
                <a:lnTo>
                  <a:pt x="448716" y="448716"/>
                </a:lnTo>
                <a:lnTo>
                  <a:pt x="0" y="448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3958" r="0" b="-2395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81961" y="4973985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Branco Cid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1961" y="5517208"/>
            <a:ext cx="4523929" cy="24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Responsable del desarrollo de la aplicación móvil, incluyendo la interfaz de usuario y la implementación de la funcionalidad de escaneo de SKU.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23229" y="3739157"/>
            <a:ext cx="5236666" cy="5102275"/>
            <a:chOff x="0" y="0"/>
            <a:chExt cx="6982222" cy="68030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25400"/>
              <a:ext cx="6931406" cy="6752209"/>
            </a:xfrm>
            <a:custGeom>
              <a:avLst/>
              <a:gdLst/>
              <a:ahLst/>
              <a:cxnLst/>
              <a:rect r="r" b="b" t="t" l="l"/>
              <a:pathLst>
                <a:path h="6752209" w="6931406">
                  <a:moveTo>
                    <a:pt x="0" y="598424"/>
                  </a:moveTo>
                  <a:cubicBezTo>
                    <a:pt x="0" y="267970"/>
                    <a:pt x="267970" y="0"/>
                    <a:pt x="598551" y="0"/>
                  </a:cubicBezTo>
                  <a:lnTo>
                    <a:pt x="6332855" y="0"/>
                  </a:lnTo>
                  <a:cubicBezTo>
                    <a:pt x="6663436" y="0"/>
                    <a:pt x="6931406" y="267970"/>
                    <a:pt x="6931406" y="598424"/>
                  </a:cubicBezTo>
                  <a:lnTo>
                    <a:pt x="6931406" y="6153785"/>
                  </a:lnTo>
                  <a:cubicBezTo>
                    <a:pt x="6931406" y="6484239"/>
                    <a:pt x="6663436" y="6752209"/>
                    <a:pt x="6332855" y="6752209"/>
                  </a:cubicBezTo>
                  <a:lnTo>
                    <a:pt x="598551" y="6752209"/>
                  </a:lnTo>
                  <a:cubicBezTo>
                    <a:pt x="267970" y="6752209"/>
                    <a:pt x="0" y="6484239"/>
                    <a:pt x="0" y="6153785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2206" cy="6803009"/>
            </a:xfrm>
            <a:custGeom>
              <a:avLst/>
              <a:gdLst/>
              <a:ahLst/>
              <a:cxnLst/>
              <a:rect r="r" b="b" t="t" l="l"/>
              <a:pathLst>
                <a:path h="6803009" w="6982206">
                  <a:moveTo>
                    <a:pt x="0" y="623824"/>
                  </a:moveTo>
                  <a:cubicBezTo>
                    <a:pt x="0" y="279273"/>
                    <a:pt x="279400" y="0"/>
                    <a:pt x="623951" y="0"/>
                  </a:cubicBezTo>
                  <a:lnTo>
                    <a:pt x="6358255" y="0"/>
                  </a:lnTo>
                  <a:lnTo>
                    <a:pt x="6358255" y="25400"/>
                  </a:lnTo>
                  <a:lnTo>
                    <a:pt x="6358255" y="0"/>
                  </a:lnTo>
                  <a:cubicBezTo>
                    <a:pt x="6702806" y="0"/>
                    <a:pt x="6982206" y="279273"/>
                    <a:pt x="6982206" y="623824"/>
                  </a:cubicBezTo>
                  <a:lnTo>
                    <a:pt x="6956806" y="623824"/>
                  </a:lnTo>
                  <a:lnTo>
                    <a:pt x="6982206" y="623824"/>
                  </a:lnTo>
                  <a:lnTo>
                    <a:pt x="6982206" y="6179185"/>
                  </a:lnTo>
                  <a:lnTo>
                    <a:pt x="6956806" y="6179185"/>
                  </a:lnTo>
                  <a:lnTo>
                    <a:pt x="6982206" y="6179185"/>
                  </a:lnTo>
                  <a:cubicBezTo>
                    <a:pt x="6982206" y="6523736"/>
                    <a:pt x="6702806" y="6803009"/>
                    <a:pt x="6358255" y="6803009"/>
                  </a:cubicBezTo>
                  <a:lnTo>
                    <a:pt x="6358255" y="6777609"/>
                  </a:lnTo>
                  <a:lnTo>
                    <a:pt x="6358255" y="6803009"/>
                  </a:lnTo>
                  <a:lnTo>
                    <a:pt x="623951" y="6803009"/>
                  </a:lnTo>
                  <a:lnTo>
                    <a:pt x="623951" y="6777609"/>
                  </a:lnTo>
                  <a:lnTo>
                    <a:pt x="623951" y="6803009"/>
                  </a:lnTo>
                  <a:cubicBezTo>
                    <a:pt x="279400" y="6803009"/>
                    <a:pt x="0" y="6523736"/>
                    <a:pt x="0" y="6179185"/>
                  </a:cubicBezTo>
                  <a:lnTo>
                    <a:pt x="0" y="623824"/>
                  </a:lnTo>
                  <a:lnTo>
                    <a:pt x="25400" y="623824"/>
                  </a:lnTo>
                  <a:lnTo>
                    <a:pt x="0" y="623824"/>
                  </a:lnTo>
                  <a:moveTo>
                    <a:pt x="50800" y="623824"/>
                  </a:moveTo>
                  <a:lnTo>
                    <a:pt x="50800" y="6179185"/>
                  </a:lnTo>
                  <a:lnTo>
                    <a:pt x="25400" y="6179185"/>
                  </a:lnTo>
                  <a:lnTo>
                    <a:pt x="50800" y="6179185"/>
                  </a:lnTo>
                  <a:cubicBezTo>
                    <a:pt x="50800" y="6495669"/>
                    <a:pt x="307467" y="6752209"/>
                    <a:pt x="623951" y="6752209"/>
                  </a:cubicBezTo>
                  <a:lnTo>
                    <a:pt x="6358255" y="6752209"/>
                  </a:lnTo>
                  <a:cubicBezTo>
                    <a:pt x="6674866" y="6752209"/>
                    <a:pt x="6931406" y="6495669"/>
                    <a:pt x="6931406" y="6179185"/>
                  </a:cubicBezTo>
                  <a:lnTo>
                    <a:pt x="6931406" y="623824"/>
                  </a:lnTo>
                  <a:cubicBezTo>
                    <a:pt x="6931406" y="307340"/>
                    <a:pt x="6674866" y="50800"/>
                    <a:pt x="6358255" y="50800"/>
                  </a:cubicBezTo>
                  <a:lnTo>
                    <a:pt x="623951" y="50800"/>
                  </a:lnTo>
                  <a:lnTo>
                    <a:pt x="623951" y="25400"/>
                  </a:lnTo>
                  <a:lnTo>
                    <a:pt x="623951" y="50800"/>
                  </a:lnTo>
                  <a:cubicBezTo>
                    <a:pt x="307467" y="50800"/>
                    <a:pt x="50800" y="307340"/>
                    <a:pt x="50800" y="623824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080379" y="3796307"/>
            <a:ext cx="5122366" cy="897582"/>
            <a:chOff x="0" y="0"/>
            <a:chExt cx="6829822" cy="119677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9806" cy="1196721"/>
            </a:xfrm>
            <a:custGeom>
              <a:avLst/>
              <a:gdLst/>
              <a:ahLst/>
              <a:cxnLst/>
              <a:rect r="r" b="b" t="t" l="l"/>
              <a:pathLst>
                <a:path h="1196721" w="6829806">
                  <a:moveTo>
                    <a:pt x="0" y="537464"/>
                  </a:moveTo>
                  <a:cubicBezTo>
                    <a:pt x="0" y="240665"/>
                    <a:pt x="240665" y="0"/>
                    <a:pt x="537464" y="0"/>
                  </a:cubicBezTo>
                  <a:lnTo>
                    <a:pt x="6292342" y="0"/>
                  </a:lnTo>
                  <a:cubicBezTo>
                    <a:pt x="6589141" y="0"/>
                    <a:pt x="6829806" y="240665"/>
                    <a:pt x="6829806" y="537464"/>
                  </a:cubicBezTo>
                  <a:lnTo>
                    <a:pt x="6829806" y="659257"/>
                  </a:lnTo>
                  <a:cubicBezTo>
                    <a:pt x="6829806" y="956056"/>
                    <a:pt x="6589141" y="1196721"/>
                    <a:pt x="6292342" y="1196721"/>
                  </a:cubicBezTo>
                  <a:lnTo>
                    <a:pt x="537464" y="1196721"/>
                  </a:lnTo>
                  <a:cubicBezTo>
                    <a:pt x="240665" y="1196721"/>
                    <a:pt x="0" y="956183"/>
                    <a:pt x="0" y="659257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4417129" y="4006454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6" y="0"/>
                </a:lnTo>
                <a:lnTo>
                  <a:pt x="448716" y="448716"/>
                </a:lnTo>
                <a:lnTo>
                  <a:pt x="0" y="4487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250" t="0" r="-625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379524" y="4973985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Lukas Otto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79524" y="5517208"/>
            <a:ext cx="4524077" cy="201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Responsable de la base de datos en GCP (Firestore/SQL) y de la lógica de negocio para la sincronización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824954"/>
            <a:ext cx="8200430" cy="93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568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Descripción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2091332"/>
            <a:ext cx="6301234" cy="40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El Problema: Gestión Manual de Inventarios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37630" y="2823865"/>
            <a:ext cx="523875" cy="523875"/>
            <a:chOff x="0" y="0"/>
            <a:chExt cx="6985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141214" y="2927375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529" t="0" r="-2352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6264" y="2830115"/>
            <a:ext cx="448181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Procesos de inventario manuales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8941" y="2823865"/>
            <a:ext cx="523875" cy="523875"/>
            <a:chOff x="0" y="0"/>
            <a:chExt cx="6985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D742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6632525" y="2927375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941" t="0" r="-294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267575" y="2830115"/>
            <a:ext cx="448181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Lentitud operativa y operativa ineficiente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20252" y="2823865"/>
            <a:ext cx="523875" cy="523875"/>
            <a:chOff x="0" y="0"/>
            <a:chExt cx="6985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2123836" y="2927375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882" t="0" r="-5882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58886" y="2830115"/>
            <a:ext cx="4481959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Alto riesgo de errores humanos en el registro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37630" y="3777406"/>
            <a:ext cx="523875" cy="523875"/>
            <a:chOff x="0" y="0"/>
            <a:chExt cx="6985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48A8E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141214" y="3880916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823" t="0" r="-8823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76264" y="3783657"/>
            <a:ext cx="722754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Falta de visibilidad del stock en tiempo real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74671" y="3777406"/>
            <a:ext cx="523875" cy="523875"/>
            <a:chOff x="0" y="0"/>
            <a:chExt cx="698500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59ABA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9378255" y="3880916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470" t="0" r="-147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013305" y="3783657"/>
            <a:ext cx="722754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Toma de decisiones basada en datos desactualizados</a:t>
            </a:r>
          </a:p>
        </p:txBody>
      </p: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6699349" y="4544169"/>
            <a:ext cx="4889301" cy="4889301"/>
            <a:chOff x="0" y="0"/>
            <a:chExt cx="6519068" cy="6519068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6519037" cy="6519037"/>
            </a:xfrm>
            <a:custGeom>
              <a:avLst/>
              <a:gdLst/>
              <a:ahLst/>
              <a:cxnLst/>
              <a:rect r="r" b="b" t="t" l="l"/>
              <a:pathLst>
                <a:path h="6519037" w="6519037">
                  <a:moveTo>
                    <a:pt x="0" y="0"/>
                  </a:moveTo>
                  <a:lnTo>
                    <a:pt x="6519037" y="0"/>
                  </a:lnTo>
                  <a:lnTo>
                    <a:pt x="6519037" y="6519037"/>
                  </a:lnTo>
                  <a:lnTo>
                    <a:pt x="0" y="6519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798314"/>
            <a:ext cx="8200430" cy="93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568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Descripción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2064692"/>
            <a:ext cx="4495800" cy="40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La Solución: Gear Management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37630" y="2797225"/>
            <a:ext cx="523875" cy="523875"/>
            <a:chOff x="0" y="0"/>
            <a:chExt cx="6985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141214" y="2900735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529" r="0" b="-2352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6264" y="2803475"/>
            <a:ext cx="448181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Aplicación móvil nativa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8941" y="2797225"/>
            <a:ext cx="523875" cy="523875"/>
            <a:chOff x="0" y="0"/>
            <a:chExt cx="6985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D742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6632525" y="2900735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294" t="0" r="-1029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267575" y="2803475"/>
            <a:ext cx="448181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Escaneo de códigos SKU con la cámara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20252" y="2797225"/>
            <a:ext cx="523875" cy="523875"/>
            <a:chOff x="0" y="0"/>
            <a:chExt cx="6985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2123836" y="2900735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9117" t="0" r="-19117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58886" y="2803475"/>
            <a:ext cx="4481959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Integración directa con Google Cloud Platform (GCP)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37630" y="4036814"/>
            <a:ext cx="523875" cy="523875"/>
            <a:chOff x="0" y="0"/>
            <a:chExt cx="6985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48A8E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141214" y="4140324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3529" t="0" r="-23529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76264" y="4043065"/>
            <a:ext cx="722754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Gestión de inventario en tiempo real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74671" y="4036814"/>
            <a:ext cx="523875" cy="523875"/>
            <a:chOff x="0" y="0"/>
            <a:chExt cx="698500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0" y="336550"/>
                  </a:moveTo>
                  <a:cubicBezTo>
                    <a:pt x="0" y="150622"/>
                    <a:pt x="150622" y="0"/>
                    <a:pt x="336550" y="0"/>
                  </a:cubicBezTo>
                  <a:cubicBezTo>
                    <a:pt x="522478" y="0"/>
                    <a:pt x="673100" y="150622"/>
                    <a:pt x="673100" y="336550"/>
                  </a:cubicBezTo>
                  <a:cubicBezTo>
                    <a:pt x="673100" y="522478"/>
                    <a:pt x="522478" y="673100"/>
                    <a:pt x="336550" y="673100"/>
                  </a:cubicBezTo>
                  <a:cubicBezTo>
                    <a:pt x="150622" y="673100"/>
                    <a:pt x="0" y="522478"/>
                    <a:pt x="0" y="336550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85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8500">
                  <a:moveTo>
                    <a:pt x="0" y="349250"/>
                  </a:moveTo>
                  <a:cubicBezTo>
                    <a:pt x="0" y="156337"/>
                    <a:pt x="156337" y="0"/>
                    <a:pt x="349250" y="0"/>
                  </a:cubicBezTo>
                  <a:cubicBezTo>
                    <a:pt x="353060" y="0"/>
                    <a:pt x="356743" y="1778"/>
                    <a:pt x="359156" y="4826"/>
                  </a:cubicBezTo>
                  <a:lnTo>
                    <a:pt x="349250" y="12700"/>
                  </a:lnTo>
                  <a:lnTo>
                    <a:pt x="349250" y="0"/>
                  </a:lnTo>
                  <a:lnTo>
                    <a:pt x="349250" y="12700"/>
                  </a:lnTo>
                  <a:lnTo>
                    <a:pt x="349250" y="0"/>
                  </a:lnTo>
                  <a:cubicBezTo>
                    <a:pt x="542163" y="0"/>
                    <a:pt x="698500" y="156337"/>
                    <a:pt x="698500" y="349250"/>
                  </a:cubicBezTo>
                  <a:cubicBezTo>
                    <a:pt x="698500" y="354076"/>
                    <a:pt x="695833" y="358521"/>
                    <a:pt x="691515" y="360553"/>
                  </a:cubicBezTo>
                  <a:lnTo>
                    <a:pt x="685800" y="349250"/>
                  </a:lnTo>
                  <a:lnTo>
                    <a:pt x="698500" y="349250"/>
                  </a:lnTo>
                  <a:cubicBezTo>
                    <a:pt x="698500" y="542163"/>
                    <a:pt x="542163" y="698500"/>
                    <a:pt x="349250" y="698500"/>
                  </a:cubicBezTo>
                  <a:lnTo>
                    <a:pt x="349250" y="685800"/>
                  </a:lnTo>
                  <a:lnTo>
                    <a:pt x="349250" y="698500"/>
                  </a:lnTo>
                  <a:cubicBezTo>
                    <a:pt x="156337" y="698500"/>
                    <a:pt x="0" y="542163"/>
                    <a:pt x="0" y="349250"/>
                  </a:cubicBezTo>
                  <a:lnTo>
                    <a:pt x="12700" y="349250"/>
                  </a:lnTo>
                  <a:lnTo>
                    <a:pt x="0" y="349250"/>
                  </a:lnTo>
                  <a:moveTo>
                    <a:pt x="25400" y="349250"/>
                  </a:moveTo>
                  <a:lnTo>
                    <a:pt x="12700" y="349250"/>
                  </a:lnTo>
                  <a:lnTo>
                    <a:pt x="25400" y="349250"/>
                  </a:lnTo>
                  <a:cubicBezTo>
                    <a:pt x="25400" y="528066"/>
                    <a:pt x="170434" y="673100"/>
                    <a:pt x="349250" y="673100"/>
                  </a:cubicBezTo>
                  <a:cubicBezTo>
                    <a:pt x="528066" y="673100"/>
                    <a:pt x="673100" y="528066"/>
                    <a:pt x="673100" y="349250"/>
                  </a:cubicBezTo>
                  <a:cubicBezTo>
                    <a:pt x="673100" y="344424"/>
                    <a:pt x="675767" y="339979"/>
                    <a:pt x="680085" y="337947"/>
                  </a:cubicBezTo>
                  <a:lnTo>
                    <a:pt x="685800" y="349250"/>
                  </a:lnTo>
                  <a:lnTo>
                    <a:pt x="673100" y="349250"/>
                  </a:lnTo>
                  <a:cubicBezTo>
                    <a:pt x="673100" y="170434"/>
                    <a:pt x="528066" y="25400"/>
                    <a:pt x="349250" y="25400"/>
                  </a:cubicBezTo>
                  <a:cubicBezTo>
                    <a:pt x="345440" y="25400"/>
                    <a:pt x="341757" y="23622"/>
                    <a:pt x="339344" y="20574"/>
                  </a:cubicBezTo>
                  <a:lnTo>
                    <a:pt x="349250" y="12700"/>
                  </a:lnTo>
                  <a:lnTo>
                    <a:pt x="349250" y="25400"/>
                  </a:lnTo>
                  <a:cubicBezTo>
                    <a:pt x="170434" y="25400"/>
                    <a:pt x="25400" y="170434"/>
                    <a:pt x="25400" y="349250"/>
                  </a:cubicBezTo>
                  <a:close/>
                </a:path>
              </a:pathLst>
            </a:custGeom>
            <a:solidFill>
              <a:srgbClr val="59ABA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9378255" y="4140324"/>
            <a:ext cx="316706" cy="316706"/>
          </a:xfrm>
          <a:custGeom>
            <a:avLst/>
            <a:gdLst/>
            <a:ahLst/>
            <a:cxnLst/>
            <a:rect r="r" b="b" t="t" l="l"/>
            <a:pathLst>
              <a:path h="316706" w="316706">
                <a:moveTo>
                  <a:pt x="0" y="0"/>
                </a:moveTo>
                <a:lnTo>
                  <a:pt x="316706" y="0"/>
                </a:lnTo>
                <a:lnTo>
                  <a:pt x="316706" y="316706"/>
                </a:lnTo>
                <a:lnTo>
                  <a:pt x="0" y="3167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3235" t="0" r="-13235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013305" y="4043065"/>
            <a:ext cx="7227540" cy="43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Mejora en la precisión y eficiencia operativa</a:t>
            </a:r>
          </a:p>
        </p:txBody>
      </p: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5741045" y="4803576"/>
            <a:ext cx="6805910" cy="4656534"/>
            <a:chOff x="0" y="0"/>
            <a:chExt cx="9074547" cy="620871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9074531" cy="6208649"/>
            </a:xfrm>
            <a:custGeom>
              <a:avLst/>
              <a:gdLst/>
              <a:ahLst/>
              <a:cxnLst/>
              <a:rect r="r" b="b" t="t" l="l"/>
              <a:pathLst>
                <a:path h="6208649" w="9074531">
                  <a:moveTo>
                    <a:pt x="0" y="0"/>
                  </a:moveTo>
                  <a:lnTo>
                    <a:pt x="9074531" y="0"/>
                  </a:lnTo>
                  <a:lnTo>
                    <a:pt x="9074531" y="6208649"/>
                  </a:lnTo>
                  <a:lnTo>
                    <a:pt x="0" y="6208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0" t="0" r="-20" b="-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5" y="2762250"/>
            <a:ext cx="9335691" cy="178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Objetivos Estratégicos del 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5" y="4904334"/>
            <a:ext cx="9335691" cy="105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El proyecto "Gear Management" se centró en la transformación digital de la gestión de activos.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105" y="6274594"/>
            <a:ext cx="9373791" cy="1240482"/>
            <a:chOff x="0" y="0"/>
            <a:chExt cx="12498388" cy="16539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2447651" cy="1603121"/>
            </a:xfrm>
            <a:custGeom>
              <a:avLst/>
              <a:gdLst/>
              <a:ahLst/>
              <a:cxnLst/>
              <a:rect r="r" b="b" t="t" l="l"/>
              <a:pathLst>
                <a:path h="1603121" w="12447651">
                  <a:moveTo>
                    <a:pt x="0" y="243840"/>
                  </a:moveTo>
                  <a:cubicBezTo>
                    <a:pt x="0" y="109220"/>
                    <a:pt x="112141" y="0"/>
                    <a:pt x="250571" y="0"/>
                  </a:cubicBezTo>
                  <a:lnTo>
                    <a:pt x="12197080" y="0"/>
                  </a:lnTo>
                  <a:cubicBezTo>
                    <a:pt x="12335511" y="0"/>
                    <a:pt x="12447651" y="109220"/>
                    <a:pt x="12447651" y="243840"/>
                  </a:cubicBezTo>
                  <a:lnTo>
                    <a:pt x="12447651" y="1359281"/>
                  </a:lnTo>
                  <a:cubicBezTo>
                    <a:pt x="12447651" y="1493901"/>
                    <a:pt x="12335511" y="1603121"/>
                    <a:pt x="12197080" y="1603121"/>
                  </a:cubicBezTo>
                  <a:lnTo>
                    <a:pt x="250571" y="1603121"/>
                  </a:lnTo>
                  <a:cubicBezTo>
                    <a:pt x="112141" y="1603121"/>
                    <a:pt x="0" y="1493901"/>
                    <a:pt x="0" y="1359281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98451" cy="1653921"/>
            </a:xfrm>
            <a:custGeom>
              <a:avLst/>
              <a:gdLst/>
              <a:ahLst/>
              <a:cxnLst/>
              <a:rect r="r" b="b" t="t" l="l"/>
              <a:pathLst>
                <a:path h="1653921" w="12498451">
                  <a:moveTo>
                    <a:pt x="0" y="269240"/>
                  </a:moveTo>
                  <a:cubicBezTo>
                    <a:pt x="0" y="119888"/>
                    <a:pt x="124206" y="0"/>
                    <a:pt x="275971" y="0"/>
                  </a:cubicBezTo>
                  <a:lnTo>
                    <a:pt x="12222480" y="0"/>
                  </a:lnTo>
                  <a:lnTo>
                    <a:pt x="12222480" y="25400"/>
                  </a:lnTo>
                  <a:lnTo>
                    <a:pt x="12222480" y="0"/>
                  </a:lnTo>
                  <a:cubicBezTo>
                    <a:pt x="12374245" y="0"/>
                    <a:pt x="12498451" y="119888"/>
                    <a:pt x="12498451" y="269240"/>
                  </a:cubicBezTo>
                  <a:lnTo>
                    <a:pt x="12473051" y="269240"/>
                  </a:lnTo>
                  <a:lnTo>
                    <a:pt x="12498451" y="269240"/>
                  </a:lnTo>
                  <a:lnTo>
                    <a:pt x="12498451" y="1384681"/>
                  </a:lnTo>
                  <a:lnTo>
                    <a:pt x="12473051" y="1384681"/>
                  </a:lnTo>
                  <a:lnTo>
                    <a:pt x="12498451" y="1384681"/>
                  </a:lnTo>
                  <a:cubicBezTo>
                    <a:pt x="12498451" y="1534033"/>
                    <a:pt x="12374245" y="1653921"/>
                    <a:pt x="12222480" y="1653921"/>
                  </a:cubicBezTo>
                  <a:lnTo>
                    <a:pt x="12222480" y="1628521"/>
                  </a:lnTo>
                  <a:lnTo>
                    <a:pt x="12222480" y="1653921"/>
                  </a:lnTo>
                  <a:lnTo>
                    <a:pt x="275971" y="1653921"/>
                  </a:lnTo>
                  <a:lnTo>
                    <a:pt x="275971" y="1628521"/>
                  </a:lnTo>
                  <a:lnTo>
                    <a:pt x="275971" y="1653921"/>
                  </a:lnTo>
                  <a:cubicBezTo>
                    <a:pt x="124206" y="1653921"/>
                    <a:pt x="0" y="1534033"/>
                    <a:pt x="0" y="1384681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384681"/>
                  </a:lnTo>
                  <a:lnTo>
                    <a:pt x="25400" y="1384681"/>
                  </a:lnTo>
                  <a:lnTo>
                    <a:pt x="50800" y="1384681"/>
                  </a:lnTo>
                  <a:cubicBezTo>
                    <a:pt x="50800" y="1504696"/>
                    <a:pt x="151003" y="1603121"/>
                    <a:pt x="275971" y="1603121"/>
                  </a:cubicBezTo>
                  <a:lnTo>
                    <a:pt x="12222480" y="1603121"/>
                  </a:lnTo>
                  <a:cubicBezTo>
                    <a:pt x="12347449" y="1603121"/>
                    <a:pt x="12447651" y="1504696"/>
                    <a:pt x="12447651" y="1384681"/>
                  </a:cubicBezTo>
                  <a:lnTo>
                    <a:pt x="12447651" y="269240"/>
                  </a:lnTo>
                  <a:cubicBezTo>
                    <a:pt x="12447651" y="149225"/>
                    <a:pt x="12347449" y="50800"/>
                    <a:pt x="12222480" y="50800"/>
                  </a:cubicBezTo>
                  <a:lnTo>
                    <a:pt x="275971" y="50800"/>
                  </a:lnTo>
                  <a:lnTo>
                    <a:pt x="275971" y="25400"/>
                  </a:lnTo>
                  <a:lnTo>
                    <a:pt x="275971" y="50800"/>
                  </a:lnTo>
                  <a:cubicBezTo>
                    <a:pt x="151003" y="50800"/>
                    <a:pt x="50800" y="149225"/>
                    <a:pt x="50800" y="269240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9055" y="6293644"/>
            <a:ext cx="152400" cy="1202382"/>
            <a:chOff x="0" y="0"/>
            <a:chExt cx="203200" cy="16031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1603121"/>
            </a:xfrm>
            <a:custGeom>
              <a:avLst/>
              <a:gdLst/>
              <a:ahLst/>
              <a:cxnLst/>
              <a:rect r="r" b="b" t="t" l="l"/>
              <a:pathLst>
                <a:path h="1603121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1501521"/>
                  </a:lnTo>
                  <a:cubicBezTo>
                    <a:pt x="203200" y="1557655"/>
                    <a:pt x="157734" y="1603121"/>
                    <a:pt x="101600" y="1603121"/>
                  </a:cubicBezTo>
                  <a:cubicBezTo>
                    <a:pt x="45466" y="1603121"/>
                    <a:pt x="0" y="1557655"/>
                    <a:pt x="0" y="1501521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498699" y="6611839"/>
            <a:ext cx="4224338" cy="5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Objetivo General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3286720"/>
            <a:ext cx="11346508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Objetivos Estratégicos del Proyecto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3247430" y="479375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9113" r="0" b="-2911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7155" y="5896719"/>
            <a:ext cx="5148560" cy="107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Objetivo Específico 1: Escaneo SKU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8769995" y="479375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8987" t="0" r="-1898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69720" y="5896719"/>
            <a:ext cx="5148560" cy="107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Objetivo Específico 2: Sincronización en la Nube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4292560" y="479375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063" t="0" r="-506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92285" y="5896719"/>
            <a:ext cx="5148560" cy="107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Objetivo Específico 3: Dashboard Analítico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7155" y="1653779"/>
            <a:ext cx="7614791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Alcances y Limitaciones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3281660"/>
            <a:ext cx="5658742" cy="732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Alcances del Proyecto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159371" y="4360144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6" y="0"/>
                </a:lnTo>
                <a:lnTo>
                  <a:pt x="448716" y="448716"/>
                </a:lnTo>
                <a:lnTo>
                  <a:pt x="0" y="448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291" t="0" r="-729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19449" y="4331791"/>
            <a:ext cx="4264967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Aplicación Móvil Funcional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159371" y="5865391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6" y="0"/>
                </a:lnTo>
                <a:lnTo>
                  <a:pt x="448716" y="448717"/>
                </a:lnTo>
                <a:lnTo>
                  <a:pt x="0" y="44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291" t="0" r="-729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19449" y="5837039"/>
            <a:ext cx="5237410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Base de Datos Escalable en GCP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159371" y="7370639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6" y="0"/>
                </a:lnTo>
                <a:lnTo>
                  <a:pt x="448716" y="448716"/>
                </a:lnTo>
                <a:lnTo>
                  <a:pt x="0" y="448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291" t="0" r="-729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19449" y="7342286"/>
            <a:ext cx="4139059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Visualización de Reportes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8451" y="3281660"/>
            <a:ext cx="7161908" cy="732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Limitaciones y Restricciones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630667" y="4360144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7" y="0"/>
                </a:lnTo>
                <a:lnTo>
                  <a:pt x="448717" y="448716"/>
                </a:lnTo>
                <a:lnTo>
                  <a:pt x="0" y="448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291" t="0" r="-7291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490746" y="4331791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Restricción Temporal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630667" y="5865391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7" y="0"/>
                </a:lnTo>
                <a:lnTo>
                  <a:pt x="448717" y="448717"/>
                </a:lnTo>
                <a:lnTo>
                  <a:pt x="0" y="44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291" t="0" r="-7291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490746" y="5837039"/>
            <a:ext cx="4738092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Curva de Aprendizaje de GCP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630667" y="7370639"/>
            <a:ext cx="448716" cy="448716"/>
          </a:xfrm>
          <a:custGeom>
            <a:avLst/>
            <a:gdLst/>
            <a:ahLst/>
            <a:cxnLst/>
            <a:rect r="r" b="b" t="t" l="l"/>
            <a:pathLst>
              <a:path h="448716" w="448716">
                <a:moveTo>
                  <a:pt x="0" y="0"/>
                </a:moveTo>
                <a:lnTo>
                  <a:pt x="448717" y="0"/>
                </a:lnTo>
                <a:lnTo>
                  <a:pt x="448717" y="448716"/>
                </a:lnTo>
                <a:lnTo>
                  <a:pt x="0" y="448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291" t="0" r="-7291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90746" y="7342286"/>
            <a:ext cx="46315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Funcionalidades Secundarias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9976"/>
            <a:chOff x="0" y="0"/>
            <a:chExt cx="9144000" cy="1371996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9938"/>
            </a:xfrm>
            <a:custGeom>
              <a:avLst/>
              <a:gdLst/>
              <a:ahLst/>
              <a:cxnLst/>
              <a:rect r="r" b="b" t="t" l="l"/>
              <a:pathLst>
                <a:path h="1371993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9938"/>
                  </a:lnTo>
                  <a:lnTo>
                    <a:pt x="0" y="13719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" t="0" r="-1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6261" y="802928"/>
            <a:ext cx="8205639" cy="6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Metodología de Desarrollo: Scrum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6261" y="1731913"/>
            <a:ext cx="9337476" cy="143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 adoptó la metodología </a:t>
            </a:r>
            <a:r>
              <a:rPr lang="en-US" sz="2187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Scrum</a:t>
            </a: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para gestionar el proyecto, enfocándose en la entrega incremental de valor y la adaptación al cambio. Los Sprints quincenales permitieron monitorear el progreso de cerca.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36736" y="3405039"/>
            <a:ext cx="915889" cy="1364307"/>
            <a:chOff x="0" y="0"/>
            <a:chExt cx="1221185" cy="18190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1195832" cy="1793748"/>
            </a:xfrm>
            <a:custGeom>
              <a:avLst/>
              <a:gdLst/>
              <a:ahLst/>
              <a:cxnLst/>
              <a:rect r="r" b="b" t="t" l="l"/>
              <a:pathLst>
                <a:path h="1793748" w="1195832">
                  <a:moveTo>
                    <a:pt x="0" y="602107"/>
                  </a:moveTo>
                  <a:cubicBezTo>
                    <a:pt x="0" y="269494"/>
                    <a:pt x="267716" y="0"/>
                    <a:pt x="597916" y="0"/>
                  </a:cubicBezTo>
                  <a:cubicBezTo>
                    <a:pt x="928116" y="0"/>
                    <a:pt x="1195832" y="269494"/>
                    <a:pt x="1195832" y="602107"/>
                  </a:cubicBezTo>
                  <a:lnTo>
                    <a:pt x="1195832" y="1191641"/>
                  </a:lnTo>
                  <a:cubicBezTo>
                    <a:pt x="1195832" y="1524127"/>
                    <a:pt x="928116" y="1793748"/>
                    <a:pt x="597916" y="1793748"/>
                  </a:cubicBezTo>
                  <a:cubicBezTo>
                    <a:pt x="267716" y="1793748"/>
                    <a:pt x="0" y="1524127"/>
                    <a:pt x="0" y="1191641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1232" cy="1819148"/>
            </a:xfrm>
            <a:custGeom>
              <a:avLst/>
              <a:gdLst/>
              <a:ahLst/>
              <a:cxnLst/>
              <a:rect r="r" b="b" t="t" l="l"/>
              <a:pathLst>
                <a:path h="1819148" w="1221232">
                  <a:moveTo>
                    <a:pt x="0" y="614807"/>
                  </a:moveTo>
                  <a:cubicBezTo>
                    <a:pt x="0" y="275336"/>
                    <a:pt x="273304" y="0"/>
                    <a:pt x="610616" y="0"/>
                  </a:cubicBezTo>
                  <a:cubicBezTo>
                    <a:pt x="613029" y="0"/>
                    <a:pt x="615315" y="635"/>
                    <a:pt x="617347" y="1905"/>
                  </a:cubicBezTo>
                  <a:lnTo>
                    <a:pt x="610616" y="12700"/>
                  </a:lnTo>
                  <a:lnTo>
                    <a:pt x="610616" y="0"/>
                  </a:lnTo>
                  <a:lnTo>
                    <a:pt x="610616" y="12700"/>
                  </a:lnTo>
                  <a:lnTo>
                    <a:pt x="610616" y="0"/>
                  </a:lnTo>
                  <a:cubicBezTo>
                    <a:pt x="947928" y="0"/>
                    <a:pt x="1221232" y="275336"/>
                    <a:pt x="1221232" y="614807"/>
                  </a:cubicBezTo>
                  <a:lnTo>
                    <a:pt x="1221232" y="1204341"/>
                  </a:lnTo>
                  <a:lnTo>
                    <a:pt x="1208532" y="1204341"/>
                  </a:lnTo>
                  <a:lnTo>
                    <a:pt x="1221232" y="1204341"/>
                  </a:lnTo>
                  <a:cubicBezTo>
                    <a:pt x="1221232" y="1543812"/>
                    <a:pt x="947928" y="1819148"/>
                    <a:pt x="610616" y="1819148"/>
                  </a:cubicBezTo>
                  <a:lnTo>
                    <a:pt x="610616" y="1806448"/>
                  </a:lnTo>
                  <a:lnTo>
                    <a:pt x="610616" y="1819148"/>
                  </a:lnTo>
                  <a:cubicBezTo>
                    <a:pt x="273304" y="1819021"/>
                    <a:pt x="0" y="1543812"/>
                    <a:pt x="0" y="1204341"/>
                  </a:cubicBezTo>
                  <a:lnTo>
                    <a:pt x="0" y="614807"/>
                  </a:lnTo>
                  <a:lnTo>
                    <a:pt x="12700" y="614807"/>
                  </a:lnTo>
                  <a:lnTo>
                    <a:pt x="0" y="614807"/>
                  </a:lnTo>
                  <a:moveTo>
                    <a:pt x="25400" y="614807"/>
                  </a:moveTo>
                  <a:lnTo>
                    <a:pt x="25400" y="1204341"/>
                  </a:lnTo>
                  <a:lnTo>
                    <a:pt x="12700" y="1204341"/>
                  </a:lnTo>
                  <a:lnTo>
                    <a:pt x="25400" y="1204341"/>
                  </a:lnTo>
                  <a:cubicBezTo>
                    <a:pt x="25400" y="1529969"/>
                    <a:pt x="287528" y="1793748"/>
                    <a:pt x="610616" y="1793748"/>
                  </a:cubicBezTo>
                  <a:cubicBezTo>
                    <a:pt x="933704" y="1793748"/>
                    <a:pt x="1195832" y="1529969"/>
                    <a:pt x="1195832" y="1204341"/>
                  </a:cubicBezTo>
                  <a:lnTo>
                    <a:pt x="1195832" y="614807"/>
                  </a:lnTo>
                  <a:lnTo>
                    <a:pt x="1208532" y="614807"/>
                  </a:lnTo>
                  <a:lnTo>
                    <a:pt x="1195832" y="614807"/>
                  </a:lnTo>
                  <a:cubicBezTo>
                    <a:pt x="1195832" y="289179"/>
                    <a:pt x="933704" y="25400"/>
                    <a:pt x="610616" y="25400"/>
                  </a:cubicBezTo>
                  <a:cubicBezTo>
                    <a:pt x="608203" y="25400"/>
                    <a:pt x="605917" y="24765"/>
                    <a:pt x="603885" y="23495"/>
                  </a:cubicBezTo>
                  <a:lnTo>
                    <a:pt x="610616" y="12700"/>
                  </a:lnTo>
                  <a:lnTo>
                    <a:pt x="610616" y="25400"/>
                  </a:lnTo>
                  <a:cubicBezTo>
                    <a:pt x="287528" y="25400"/>
                    <a:pt x="25400" y="289179"/>
                    <a:pt x="25400" y="614807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326505" y="3918942"/>
            <a:ext cx="336203" cy="336203"/>
          </a:xfrm>
          <a:custGeom>
            <a:avLst/>
            <a:gdLst/>
            <a:ahLst/>
            <a:cxnLst/>
            <a:rect r="r" b="b" t="t" l="l"/>
            <a:pathLst>
              <a:path h="336203" w="336203">
                <a:moveTo>
                  <a:pt x="0" y="0"/>
                </a:moveTo>
                <a:lnTo>
                  <a:pt x="336203" y="0"/>
                </a:lnTo>
                <a:lnTo>
                  <a:pt x="336203" y="336203"/>
                </a:lnTo>
                <a:lnTo>
                  <a:pt x="0" y="336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91666" r="0" b="-9166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67235" y="3629174"/>
            <a:ext cx="4391620" cy="33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1. Levantamiento de Requerimientos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36736" y="4974431"/>
            <a:ext cx="915889" cy="1364307"/>
            <a:chOff x="0" y="0"/>
            <a:chExt cx="1221185" cy="18190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195832" cy="1793748"/>
            </a:xfrm>
            <a:custGeom>
              <a:avLst/>
              <a:gdLst/>
              <a:ahLst/>
              <a:cxnLst/>
              <a:rect r="r" b="b" t="t" l="l"/>
              <a:pathLst>
                <a:path h="1793748" w="1195832">
                  <a:moveTo>
                    <a:pt x="0" y="602107"/>
                  </a:moveTo>
                  <a:cubicBezTo>
                    <a:pt x="0" y="269494"/>
                    <a:pt x="267716" y="0"/>
                    <a:pt x="597916" y="0"/>
                  </a:cubicBezTo>
                  <a:cubicBezTo>
                    <a:pt x="928116" y="0"/>
                    <a:pt x="1195832" y="269494"/>
                    <a:pt x="1195832" y="602107"/>
                  </a:cubicBezTo>
                  <a:lnTo>
                    <a:pt x="1195832" y="1191641"/>
                  </a:lnTo>
                  <a:cubicBezTo>
                    <a:pt x="1195832" y="1524127"/>
                    <a:pt x="928116" y="1793748"/>
                    <a:pt x="597916" y="1793748"/>
                  </a:cubicBezTo>
                  <a:cubicBezTo>
                    <a:pt x="267716" y="1793748"/>
                    <a:pt x="0" y="1524127"/>
                    <a:pt x="0" y="1191641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1232" cy="1819148"/>
            </a:xfrm>
            <a:custGeom>
              <a:avLst/>
              <a:gdLst/>
              <a:ahLst/>
              <a:cxnLst/>
              <a:rect r="r" b="b" t="t" l="l"/>
              <a:pathLst>
                <a:path h="1819148" w="1221232">
                  <a:moveTo>
                    <a:pt x="0" y="614807"/>
                  </a:moveTo>
                  <a:cubicBezTo>
                    <a:pt x="0" y="275336"/>
                    <a:pt x="273304" y="0"/>
                    <a:pt x="610616" y="0"/>
                  </a:cubicBezTo>
                  <a:cubicBezTo>
                    <a:pt x="613029" y="0"/>
                    <a:pt x="615315" y="635"/>
                    <a:pt x="617347" y="1905"/>
                  </a:cubicBezTo>
                  <a:lnTo>
                    <a:pt x="610616" y="12700"/>
                  </a:lnTo>
                  <a:lnTo>
                    <a:pt x="610616" y="0"/>
                  </a:lnTo>
                  <a:lnTo>
                    <a:pt x="610616" y="12700"/>
                  </a:lnTo>
                  <a:lnTo>
                    <a:pt x="610616" y="0"/>
                  </a:lnTo>
                  <a:cubicBezTo>
                    <a:pt x="947928" y="0"/>
                    <a:pt x="1221232" y="275336"/>
                    <a:pt x="1221232" y="614807"/>
                  </a:cubicBezTo>
                  <a:lnTo>
                    <a:pt x="1221232" y="1204341"/>
                  </a:lnTo>
                  <a:lnTo>
                    <a:pt x="1208532" y="1204341"/>
                  </a:lnTo>
                  <a:lnTo>
                    <a:pt x="1221232" y="1204341"/>
                  </a:lnTo>
                  <a:cubicBezTo>
                    <a:pt x="1221232" y="1543812"/>
                    <a:pt x="947928" y="1819148"/>
                    <a:pt x="610616" y="1819148"/>
                  </a:cubicBezTo>
                  <a:lnTo>
                    <a:pt x="610616" y="1806448"/>
                  </a:lnTo>
                  <a:lnTo>
                    <a:pt x="610616" y="1819148"/>
                  </a:lnTo>
                  <a:cubicBezTo>
                    <a:pt x="273304" y="1819021"/>
                    <a:pt x="0" y="1543812"/>
                    <a:pt x="0" y="1204341"/>
                  </a:cubicBezTo>
                  <a:lnTo>
                    <a:pt x="0" y="614807"/>
                  </a:lnTo>
                  <a:lnTo>
                    <a:pt x="12700" y="614807"/>
                  </a:lnTo>
                  <a:lnTo>
                    <a:pt x="0" y="614807"/>
                  </a:lnTo>
                  <a:moveTo>
                    <a:pt x="25400" y="614807"/>
                  </a:moveTo>
                  <a:lnTo>
                    <a:pt x="25400" y="1204341"/>
                  </a:lnTo>
                  <a:lnTo>
                    <a:pt x="12700" y="1204341"/>
                  </a:lnTo>
                  <a:lnTo>
                    <a:pt x="25400" y="1204341"/>
                  </a:lnTo>
                  <a:cubicBezTo>
                    <a:pt x="25400" y="1529969"/>
                    <a:pt x="287528" y="1793748"/>
                    <a:pt x="610616" y="1793748"/>
                  </a:cubicBezTo>
                  <a:cubicBezTo>
                    <a:pt x="933704" y="1793748"/>
                    <a:pt x="1195832" y="1529969"/>
                    <a:pt x="1195832" y="1204341"/>
                  </a:cubicBezTo>
                  <a:lnTo>
                    <a:pt x="1195832" y="614807"/>
                  </a:lnTo>
                  <a:lnTo>
                    <a:pt x="1208532" y="614807"/>
                  </a:lnTo>
                  <a:lnTo>
                    <a:pt x="1195832" y="614807"/>
                  </a:lnTo>
                  <a:cubicBezTo>
                    <a:pt x="1195832" y="289179"/>
                    <a:pt x="933704" y="25400"/>
                    <a:pt x="610616" y="25400"/>
                  </a:cubicBezTo>
                  <a:cubicBezTo>
                    <a:pt x="608203" y="25400"/>
                    <a:pt x="605917" y="24765"/>
                    <a:pt x="603885" y="23495"/>
                  </a:cubicBezTo>
                  <a:lnTo>
                    <a:pt x="610616" y="12700"/>
                  </a:lnTo>
                  <a:lnTo>
                    <a:pt x="610616" y="25400"/>
                  </a:lnTo>
                  <a:cubicBezTo>
                    <a:pt x="287528" y="25400"/>
                    <a:pt x="25400" y="289179"/>
                    <a:pt x="25400" y="614807"/>
                  </a:cubicBezTo>
                  <a:close/>
                </a:path>
              </a:pathLst>
            </a:custGeom>
            <a:solidFill>
              <a:srgbClr val="D742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326505" y="5488335"/>
            <a:ext cx="336203" cy="336202"/>
          </a:xfrm>
          <a:custGeom>
            <a:avLst/>
            <a:gdLst/>
            <a:ahLst/>
            <a:cxnLst/>
            <a:rect r="r" b="b" t="t" l="l"/>
            <a:pathLst>
              <a:path h="336202" w="336203">
                <a:moveTo>
                  <a:pt x="0" y="0"/>
                </a:moveTo>
                <a:lnTo>
                  <a:pt x="336203" y="0"/>
                </a:lnTo>
                <a:lnTo>
                  <a:pt x="336203" y="336202"/>
                </a:lnTo>
                <a:lnTo>
                  <a:pt x="0" y="3362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166" r="0" b="-416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167235" y="5198566"/>
            <a:ext cx="3065115" cy="33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2. Diseño de Arquitectura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36736" y="6543824"/>
            <a:ext cx="915889" cy="1364307"/>
            <a:chOff x="0" y="0"/>
            <a:chExt cx="1221185" cy="18190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1195832" cy="1793748"/>
            </a:xfrm>
            <a:custGeom>
              <a:avLst/>
              <a:gdLst/>
              <a:ahLst/>
              <a:cxnLst/>
              <a:rect r="r" b="b" t="t" l="l"/>
              <a:pathLst>
                <a:path h="1793748" w="1195832">
                  <a:moveTo>
                    <a:pt x="0" y="602107"/>
                  </a:moveTo>
                  <a:cubicBezTo>
                    <a:pt x="0" y="269494"/>
                    <a:pt x="267716" y="0"/>
                    <a:pt x="597916" y="0"/>
                  </a:cubicBezTo>
                  <a:cubicBezTo>
                    <a:pt x="928116" y="0"/>
                    <a:pt x="1195832" y="269494"/>
                    <a:pt x="1195832" y="602107"/>
                  </a:cubicBezTo>
                  <a:lnTo>
                    <a:pt x="1195832" y="1191641"/>
                  </a:lnTo>
                  <a:cubicBezTo>
                    <a:pt x="1195832" y="1524127"/>
                    <a:pt x="928116" y="1793748"/>
                    <a:pt x="597916" y="1793748"/>
                  </a:cubicBezTo>
                  <a:cubicBezTo>
                    <a:pt x="267716" y="1793748"/>
                    <a:pt x="0" y="1524127"/>
                    <a:pt x="0" y="1191641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1232" cy="1819148"/>
            </a:xfrm>
            <a:custGeom>
              <a:avLst/>
              <a:gdLst/>
              <a:ahLst/>
              <a:cxnLst/>
              <a:rect r="r" b="b" t="t" l="l"/>
              <a:pathLst>
                <a:path h="1819148" w="1221232">
                  <a:moveTo>
                    <a:pt x="0" y="614807"/>
                  </a:moveTo>
                  <a:cubicBezTo>
                    <a:pt x="0" y="275336"/>
                    <a:pt x="273304" y="0"/>
                    <a:pt x="610616" y="0"/>
                  </a:cubicBezTo>
                  <a:cubicBezTo>
                    <a:pt x="613029" y="0"/>
                    <a:pt x="615315" y="635"/>
                    <a:pt x="617347" y="1905"/>
                  </a:cubicBezTo>
                  <a:lnTo>
                    <a:pt x="610616" y="12700"/>
                  </a:lnTo>
                  <a:lnTo>
                    <a:pt x="610616" y="0"/>
                  </a:lnTo>
                  <a:lnTo>
                    <a:pt x="610616" y="12700"/>
                  </a:lnTo>
                  <a:lnTo>
                    <a:pt x="610616" y="0"/>
                  </a:lnTo>
                  <a:cubicBezTo>
                    <a:pt x="947928" y="0"/>
                    <a:pt x="1221232" y="275336"/>
                    <a:pt x="1221232" y="614807"/>
                  </a:cubicBezTo>
                  <a:lnTo>
                    <a:pt x="1221232" y="1204341"/>
                  </a:lnTo>
                  <a:lnTo>
                    <a:pt x="1208532" y="1204341"/>
                  </a:lnTo>
                  <a:lnTo>
                    <a:pt x="1221232" y="1204341"/>
                  </a:lnTo>
                  <a:cubicBezTo>
                    <a:pt x="1221232" y="1543812"/>
                    <a:pt x="947928" y="1819148"/>
                    <a:pt x="610616" y="1819148"/>
                  </a:cubicBezTo>
                  <a:lnTo>
                    <a:pt x="610616" y="1806448"/>
                  </a:lnTo>
                  <a:lnTo>
                    <a:pt x="610616" y="1819148"/>
                  </a:lnTo>
                  <a:cubicBezTo>
                    <a:pt x="273304" y="1819021"/>
                    <a:pt x="0" y="1543812"/>
                    <a:pt x="0" y="1204341"/>
                  </a:cubicBezTo>
                  <a:lnTo>
                    <a:pt x="0" y="614807"/>
                  </a:lnTo>
                  <a:lnTo>
                    <a:pt x="12700" y="614807"/>
                  </a:lnTo>
                  <a:lnTo>
                    <a:pt x="0" y="614807"/>
                  </a:lnTo>
                  <a:moveTo>
                    <a:pt x="25400" y="614807"/>
                  </a:moveTo>
                  <a:lnTo>
                    <a:pt x="25400" y="1204341"/>
                  </a:lnTo>
                  <a:lnTo>
                    <a:pt x="12700" y="1204341"/>
                  </a:lnTo>
                  <a:lnTo>
                    <a:pt x="25400" y="1204341"/>
                  </a:lnTo>
                  <a:cubicBezTo>
                    <a:pt x="25400" y="1529969"/>
                    <a:pt x="287528" y="1793748"/>
                    <a:pt x="610616" y="1793748"/>
                  </a:cubicBezTo>
                  <a:cubicBezTo>
                    <a:pt x="933704" y="1793748"/>
                    <a:pt x="1195832" y="1529969"/>
                    <a:pt x="1195832" y="1204341"/>
                  </a:cubicBezTo>
                  <a:lnTo>
                    <a:pt x="1195832" y="614807"/>
                  </a:lnTo>
                  <a:lnTo>
                    <a:pt x="1208532" y="614807"/>
                  </a:lnTo>
                  <a:lnTo>
                    <a:pt x="1195832" y="614807"/>
                  </a:lnTo>
                  <a:cubicBezTo>
                    <a:pt x="1195832" y="289179"/>
                    <a:pt x="933704" y="25400"/>
                    <a:pt x="610616" y="25400"/>
                  </a:cubicBezTo>
                  <a:cubicBezTo>
                    <a:pt x="608203" y="25400"/>
                    <a:pt x="605917" y="24765"/>
                    <a:pt x="603885" y="23495"/>
                  </a:cubicBezTo>
                  <a:lnTo>
                    <a:pt x="610616" y="12700"/>
                  </a:lnTo>
                  <a:lnTo>
                    <a:pt x="610616" y="25400"/>
                  </a:lnTo>
                  <a:cubicBezTo>
                    <a:pt x="287528" y="25400"/>
                    <a:pt x="25400" y="289179"/>
                    <a:pt x="25400" y="614807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326505" y="7057727"/>
            <a:ext cx="336203" cy="336202"/>
          </a:xfrm>
          <a:custGeom>
            <a:avLst/>
            <a:gdLst/>
            <a:ahLst/>
            <a:cxnLst/>
            <a:rect r="r" b="b" t="t" l="l"/>
            <a:pathLst>
              <a:path h="336202" w="336203">
                <a:moveTo>
                  <a:pt x="0" y="0"/>
                </a:moveTo>
                <a:lnTo>
                  <a:pt x="336203" y="0"/>
                </a:lnTo>
                <a:lnTo>
                  <a:pt x="336203" y="336203"/>
                </a:lnTo>
                <a:lnTo>
                  <a:pt x="0" y="3362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4166" r="0" b="-416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167235" y="6767959"/>
            <a:ext cx="3719364" cy="33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3. Desarrollo Iterativo (Sprints)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6736" y="8113216"/>
            <a:ext cx="915889" cy="1364307"/>
            <a:chOff x="0" y="0"/>
            <a:chExt cx="1221185" cy="181907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195832" cy="1793748"/>
            </a:xfrm>
            <a:custGeom>
              <a:avLst/>
              <a:gdLst/>
              <a:ahLst/>
              <a:cxnLst/>
              <a:rect r="r" b="b" t="t" l="l"/>
              <a:pathLst>
                <a:path h="1793748" w="1195832">
                  <a:moveTo>
                    <a:pt x="0" y="602107"/>
                  </a:moveTo>
                  <a:cubicBezTo>
                    <a:pt x="0" y="269494"/>
                    <a:pt x="267716" y="0"/>
                    <a:pt x="597916" y="0"/>
                  </a:cubicBezTo>
                  <a:cubicBezTo>
                    <a:pt x="928116" y="0"/>
                    <a:pt x="1195832" y="269494"/>
                    <a:pt x="1195832" y="602107"/>
                  </a:cubicBezTo>
                  <a:lnTo>
                    <a:pt x="1195832" y="1191641"/>
                  </a:lnTo>
                  <a:cubicBezTo>
                    <a:pt x="1195832" y="1524127"/>
                    <a:pt x="928116" y="1793748"/>
                    <a:pt x="597916" y="1793748"/>
                  </a:cubicBezTo>
                  <a:cubicBezTo>
                    <a:pt x="267716" y="1793748"/>
                    <a:pt x="0" y="1524127"/>
                    <a:pt x="0" y="1191641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21232" cy="1819148"/>
            </a:xfrm>
            <a:custGeom>
              <a:avLst/>
              <a:gdLst/>
              <a:ahLst/>
              <a:cxnLst/>
              <a:rect r="r" b="b" t="t" l="l"/>
              <a:pathLst>
                <a:path h="1819148" w="1221232">
                  <a:moveTo>
                    <a:pt x="0" y="614807"/>
                  </a:moveTo>
                  <a:cubicBezTo>
                    <a:pt x="0" y="275336"/>
                    <a:pt x="273304" y="0"/>
                    <a:pt x="610616" y="0"/>
                  </a:cubicBezTo>
                  <a:cubicBezTo>
                    <a:pt x="613029" y="0"/>
                    <a:pt x="615315" y="635"/>
                    <a:pt x="617347" y="1905"/>
                  </a:cubicBezTo>
                  <a:lnTo>
                    <a:pt x="610616" y="12700"/>
                  </a:lnTo>
                  <a:lnTo>
                    <a:pt x="610616" y="0"/>
                  </a:lnTo>
                  <a:lnTo>
                    <a:pt x="610616" y="12700"/>
                  </a:lnTo>
                  <a:lnTo>
                    <a:pt x="610616" y="0"/>
                  </a:lnTo>
                  <a:cubicBezTo>
                    <a:pt x="947928" y="0"/>
                    <a:pt x="1221232" y="275336"/>
                    <a:pt x="1221232" y="614807"/>
                  </a:cubicBezTo>
                  <a:lnTo>
                    <a:pt x="1221232" y="1204341"/>
                  </a:lnTo>
                  <a:lnTo>
                    <a:pt x="1208532" y="1204341"/>
                  </a:lnTo>
                  <a:lnTo>
                    <a:pt x="1221232" y="1204341"/>
                  </a:lnTo>
                  <a:cubicBezTo>
                    <a:pt x="1221232" y="1543812"/>
                    <a:pt x="947928" y="1819148"/>
                    <a:pt x="610616" y="1819148"/>
                  </a:cubicBezTo>
                  <a:lnTo>
                    <a:pt x="610616" y="1806448"/>
                  </a:lnTo>
                  <a:lnTo>
                    <a:pt x="610616" y="1819148"/>
                  </a:lnTo>
                  <a:cubicBezTo>
                    <a:pt x="273304" y="1819021"/>
                    <a:pt x="0" y="1543812"/>
                    <a:pt x="0" y="1204341"/>
                  </a:cubicBezTo>
                  <a:lnTo>
                    <a:pt x="0" y="614807"/>
                  </a:lnTo>
                  <a:lnTo>
                    <a:pt x="12700" y="614807"/>
                  </a:lnTo>
                  <a:lnTo>
                    <a:pt x="0" y="614807"/>
                  </a:lnTo>
                  <a:moveTo>
                    <a:pt x="25400" y="614807"/>
                  </a:moveTo>
                  <a:lnTo>
                    <a:pt x="25400" y="1204341"/>
                  </a:lnTo>
                  <a:lnTo>
                    <a:pt x="12700" y="1204341"/>
                  </a:lnTo>
                  <a:lnTo>
                    <a:pt x="25400" y="1204341"/>
                  </a:lnTo>
                  <a:cubicBezTo>
                    <a:pt x="25400" y="1529969"/>
                    <a:pt x="287528" y="1793748"/>
                    <a:pt x="610616" y="1793748"/>
                  </a:cubicBezTo>
                  <a:cubicBezTo>
                    <a:pt x="933704" y="1793748"/>
                    <a:pt x="1195832" y="1529969"/>
                    <a:pt x="1195832" y="1204341"/>
                  </a:cubicBezTo>
                  <a:lnTo>
                    <a:pt x="1195832" y="614807"/>
                  </a:lnTo>
                  <a:lnTo>
                    <a:pt x="1208532" y="614807"/>
                  </a:lnTo>
                  <a:lnTo>
                    <a:pt x="1195832" y="614807"/>
                  </a:lnTo>
                  <a:cubicBezTo>
                    <a:pt x="1195832" y="289179"/>
                    <a:pt x="933704" y="25400"/>
                    <a:pt x="610616" y="25400"/>
                  </a:cubicBezTo>
                  <a:cubicBezTo>
                    <a:pt x="608203" y="25400"/>
                    <a:pt x="605917" y="24765"/>
                    <a:pt x="603885" y="23495"/>
                  </a:cubicBezTo>
                  <a:lnTo>
                    <a:pt x="610616" y="12700"/>
                  </a:lnTo>
                  <a:lnTo>
                    <a:pt x="610616" y="25400"/>
                  </a:lnTo>
                  <a:cubicBezTo>
                    <a:pt x="287528" y="25400"/>
                    <a:pt x="25400" y="289179"/>
                    <a:pt x="25400" y="614807"/>
                  </a:cubicBezTo>
                  <a:close/>
                </a:path>
              </a:pathLst>
            </a:custGeom>
            <a:solidFill>
              <a:srgbClr val="48A8E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326505" y="8627120"/>
            <a:ext cx="336203" cy="336202"/>
          </a:xfrm>
          <a:custGeom>
            <a:avLst/>
            <a:gdLst/>
            <a:ahLst/>
            <a:cxnLst/>
            <a:rect r="r" b="b" t="t" l="l"/>
            <a:pathLst>
              <a:path h="336202" w="336203">
                <a:moveTo>
                  <a:pt x="0" y="0"/>
                </a:moveTo>
                <a:lnTo>
                  <a:pt x="336203" y="0"/>
                </a:lnTo>
                <a:lnTo>
                  <a:pt x="336203" y="336202"/>
                </a:lnTo>
                <a:lnTo>
                  <a:pt x="0" y="3362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388" r="0" b="-1388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67235" y="8337351"/>
            <a:ext cx="2895749" cy="33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4. Pruebas e Integración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279177"/>
            <a:ext cx="11276856" cy="125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2"/>
              </a:lnSpc>
            </a:pPr>
            <a:r>
              <a:rPr lang="en-US" sz="762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Cronograma del Proyecto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4950" y="3130154"/>
            <a:ext cx="38100" cy="5839420"/>
            <a:chOff x="0" y="0"/>
            <a:chExt cx="50800" cy="77858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7785862"/>
            </a:xfrm>
            <a:custGeom>
              <a:avLst/>
              <a:gdLst/>
              <a:ahLst/>
              <a:cxnLst/>
              <a:rect r="r" b="b" t="t" l="l"/>
              <a:pathLst>
                <a:path h="7785862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760462"/>
                  </a:lnTo>
                  <a:cubicBezTo>
                    <a:pt x="50800" y="7774432"/>
                    <a:pt x="39370" y="7785862"/>
                    <a:pt x="25400" y="7785862"/>
                  </a:cubicBezTo>
                  <a:cubicBezTo>
                    <a:pt x="11430" y="7785862"/>
                    <a:pt x="0" y="7774432"/>
                    <a:pt x="0" y="7760462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947942" y="3447604"/>
            <a:ext cx="897582" cy="38100"/>
            <a:chOff x="0" y="0"/>
            <a:chExt cx="1196777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6721" cy="50800"/>
            </a:xfrm>
            <a:custGeom>
              <a:avLst/>
              <a:gdLst/>
              <a:ahLst/>
              <a:cxnLst/>
              <a:rect r="r" b="b" t="t" l="l"/>
              <a:pathLst>
                <a:path h="50800" w="119672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71321" y="0"/>
                  </a:lnTo>
                  <a:cubicBezTo>
                    <a:pt x="1185291" y="0"/>
                    <a:pt x="1196721" y="11430"/>
                    <a:pt x="1196721" y="25400"/>
                  </a:cubicBezTo>
                  <a:cubicBezTo>
                    <a:pt x="1196721" y="39370"/>
                    <a:pt x="1185291" y="50800"/>
                    <a:pt x="117132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93138" y="3115866"/>
            <a:ext cx="701725" cy="701725"/>
            <a:chOff x="0" y="0"/>
            <a:chExt cx="935633" cy="9356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050" y="19050"/>
              <a:ext cx="897509" cy="897509"/>
            </a:xfrm>
            <a:custGeom>
              <a:avLst/>
              <a:gdLst/>
              <a:ahLst/>
              <a:cxnLst/>
              <a:rect r="r" b="b" t="t" l="l"/>
              <a:pathLst>
                <a:path h="897509" w="897509">
                  <a:moveTo>
                    <a:pt x="0" y="448818"/>
                  </a:moveTo>
                  <a:cubicBezTo>
                    <a:pt x="0" y="200914"/>
                    <a:pt x="200914" y="0"/>
                    <a:pt x="448818" y="0"/>
                  </a:cubicBezTo>
                  <a:cubicBezTo>
                    <a:pt x="696722" y="0"/>
                    <a:pt x="897509" y="200914"/>
                    <a:pt x="897509" y="448818"/>
                  </a:cubicBezTo>
                  <a:cubicBezTo>
                    <a:pt x="897509" y="696722"/>
                    <a:pt x="696595" y="897509"/>
                    <a:pt x="448818" y="897509"/>
                  </a:cubicBezTo>
                  <a:cubicBezTo>
                    <a:pt x="201041" y="897509"/>
                    <a:pt x="0" y="696595"/>
                    <a:pt x="0" y="448818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5609" cy="935736"/>
            </a:xfrm>
            <a:custGeom>
              <a:avLst/>
              <a:gdLst/>
              <a:ahLst/>
              <a:cxnLst/>
              <a:rect r="r" b="b" t="t" l="l"/>
              <a:pathLst>
                <a:path h="935736" w="935609">
                  <a:moveTo>
                    <a:pt x="0" y="467868"/>
                  </a:moveTo>
                  <a:cubicBezTo>
                    <a:pt x="0" y="209423"/>
                    <a:pt x="209423" y="0"/>
                    <a:pt x="467868" y="0"/>
                  </a:cubicBezTo>
                  <a:cubicBezTo>
                    <a:pt x="471424" y="0"/>
                    <a:pt x="474980" y="1016"/>
                    <a:pt x="477901" y="2921"/>
                  </a:cubicBezTo>
                  <a:lnTo>
                    <a:pt x="467868" y="19050"/>
                  </a:lnTo>
                  <a:lnTo>
                    <a:pt x="467868" y="0"/>
                  </a:lnTo>
                  <a:lnTo>
                    <a:pt x="467868" y="19050"/>
                  </a:lnTo>
                  <a:lnTo>
                    <a:pt x="467868" y="0"/>
                  </a:lnTo>
                  <a:cubicBezTo>
                    <a:pt x="726186" y="0"/>
                    <a:pt x="935609" y="209423"/>
                    <a:pt x="935609" y="467868"/>
                  </a:cubicBezTo>
                  <a:cubicBezTo>
                    <a:pt x="935609" y="475107"/>
                    <a:pt x="931545" y="481711"/>
                    <a:pt x="925068" y="484886"/>
                  </a:cubicBezTo>
                  <a:lnTo>
                    <a:pt x="916559" y="467868"/>
                  </a:lnTo>
                  <a:lnTo>
                    <a:pt x="935609" y="467868"/>
                  </a:lnTo>
                  <a:cubicBezTo>
                    <a:pt x="935609" y="726186"/>
                    <a:pt x="726186" y="935736"/>
                    <a:pt x="467741" y="935736"/>
                  </a:cubicBezTo>
                  <a:lnTo>
                    <a:pt x="467741" y="916686"/>
                  </a:lnTo>
                  <a:lnTo>
                    <a:pt x="467741" y="935736"/>
                  </a:lnTo>
                  <a:cubicBezTo>
                    <a:pt x="209423" y="935609"/>
                    <a:pt x="0" y="726186"/>
                    <a:pt x="0" y="467868"/>
                  </a:cubicBezTo>
                  <a:lnTo>
                    <a:pt x="19050" y="467868"/>
                  </a:lnTo>
                  <a:lnTo>
                    <a:pt x="0" y="467868"/>
                  </a:lnTo>
                  <a:moveTo>
                    <a:pt x="38100" y="467868"/>
                  </a:moveTo>
                  <a:lnTo>
                    <a:pt x="19050" y="467868"/>
                  </a:lnTo>
                  <a:lnTo>
                    <a:pt x="38100" y="467868"/>
                  </a:lnTo>
                  <a:cubicBezTo>
                    <a:pt x="38100" y="705104"/>
                    <a:pt x="230505" y="897509"/>
                    <a:pt x="467868" y="897509"/>
                  </a:cubicBezTo>
                  <a:cubicBezTo>
                    <a:pt x="705231" y="897509"/>
                    <a:pt x="897509" y="705104"/>
                    <a:pt x="897509" y="467868"/>
                  </a:cubicBezTo>
                  <a:cubicBezTo>
                    <a:pt x="897509" y="460629"/>
                    <a:pt x="901573" y="454025"/>
                    <a:pt x="908050" y="450850"/>
                  </a:cubicBezTo>
                  <a:lnTo>
                    <a:pt x="916559" y="467868"/>
                  </a:lnTo>
                  <a:lnTo>
                    <a:pt x="897509" y="467868"/>
                  </a:lnTo>
                  <a:cubicBezTo>
                    <a:pt x="897509" y="230505"/>
                    <a:pt x="705104" y="38100"/>
                    <a:pt x="467868" y="38100"/>
                  </a:cubicBezTo>
                  <a:cubicBezTo>
                    <a:pt x="464312" y="38100"/>
                    <a:pt x="460756" y="37084"/>
                    <a:pt x="457835" y="35179"/>
                  </a:cubicBezTo>
                  <a:lnTo>
                    <a:pt x="467868" y="19050"/>
                  </a:lnTo>
                  <a:lnTo>
                    <a:pt x="467868" y="38100"/>
                  </a:lnTo>
                  <a:cubicBezTo>
                    <a:pt x="230505" y="38100"/>
                    <a:pt x="38100" y="230505"/>
                    <a:pt x="38100" y="467868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932739" y="3259782"/>
            <a:ext cx="422374" cy="47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41822" y="3213944"/>
            <a:ext cx="5206156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Fase 1: Definición y Planificación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155" y="3757166"/>
            <a:ext cx="6600825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(Semanas 1-7)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42475" y="5242918"/>
            <a:ext cx="897582" cy="38100"/>
            <a:chOff x="0" y="0"/>
            <a:chExt cx="1196777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6721" cy="50800"/>
            </a:xfrm>
            <a:custGeom>
              <a:avLst/>
              <a:gdLst/>
              <a:ahLst/>
              <a:cxnLst/>
              <a:rect r="r" b="b" t="t" l="l"/>
              <a:pathLst>
                <a:path h="50800" w="119672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71321" y="0"/>
                  </a:lnTo>
                  <a:cubicBezTo>
                    <a:pt x="1185291" y="0"/>
                    <a:pt x="1196721" y="11430"/>
                    <a:pt x="1196721" y="25400"/>
                  </a:cubicBezTo>
                  <a:cubicBezTo>
                    <a:pt x="1196721" y="39370"/>
                    <a:pt x="1185291" y="50800"/>
                    <a:pt x="117132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742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793138" y="4911179"/>
            <a:ext cx="701725" cy="701725"/>
            <a:chOff x="0" y="0"/>
            <a:chExt cx="935633" cy="9356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897509" cy="897509"/>
            </a:xfrm>
            <a:custGeom>
              <a:avLst/>
              <a:gdLst/>
              <a:ahLst/>
              <a:cxnLst/>
              <a:rect r="r" b="b" t="t" l="l"/>
              <a:pathLst>
                <a:path h="897509" w="897509">
                  <a:moveTo>
                    <a:pt x="0" y="448818"/>
                  </a:moveTo>
                  <a:cubicBezTo>
                    <a:pt x="0" y="200914"/>
                    <a:pt x="200914" y="0"/>
                    <a:pt x="448818" y="0"/>
                  </a:cubicBezTo>
                  <a:cubicBezTo>
                    <a:pt x="696722" y="0"/>
                    <a:pt x="897509" y="200914"/>
                    <a:pt x="897509" y="448818"/>
                  </a:cubicBezTo>
                  <a:cubicBezTo>
                    <a:pt x="897509" y="696722"/>
                    <a:pt x="696595" y="897509"/>
                    <a:pt x="448818" y="897509"/>
                  </a:cubicBezTo>
                  <a:cubicBezTo>
                    <a:pt x="201041" y="897509"/>
                    <a:pt x="0" y="696595"/>
                    <a:pt x="0" y="448818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5609" cy="935736"/>
            </a:xfrm>
            <a:custGeom>
              <a:avLst/>
              <a:gdLst/>
              <a:ahLst/>
              <a:cxnLst/>
              <a:rect r="r" b="b" t="t" l="l"/>
              <a:pathLst>
                <a:path h="935736" w="935609">
                  <a:moveTo>
                    <a:pt x="0" y="467868"/>
                  </a:moveTo>
                  <a:cubicBezTo>
                    <a:pt x="0" y="209423"/>
                    <a:pt x="209423" y="0"/>
                    <a:pt x="467868" y="0"/>
                  </a:cubicBezTo>
                  <a:cubicBezTo>
                    <a:pt x="471424" y="0"/>
                    <a:pt x="474980" y="1016"/>
                    <a:pt x="477901" y="2921"/>
                  </a:cubicBezTo>
                  <a:lnTo>
                    <a:pt x="467868" y="19050"/>
                  </a:lnTo>
                  <a:lnTo>
                    <a:pt x="467868" y="0"/>
                  </a:lnTo>
                  <a:lnTo>
                    <a:pt x="467868" y="19050"/>
                  </a:lnTo>
                  <a:lnTo>
                    <a:pt x="467868" y="0"/>
                  </a:lnTo>
                  <a:cubicBezTo>
                    <a:pt x="726186" y="0"/>
                    <a:pt x="935609" y="209423"/>
                    <a:pt x="935609" y="467868"/>
                  </a:cubicBezTo>
                  <a:cubicBezTo>
                    <a:pt x="935609" y="475107"/>
                    <a:pt x="931545" y="481711"/>
                    <a:pt x="925068" y="484886"/>
                  </a:cubicBezTo>
                  <a:lnTo>
                    <a:pt x="916559" y="467868"/>
                  </a:lnTo>
                  <a:lnTo>
                    <a:pt x="935609" y="467868"/>
                  </a:lnTo>
                  <a:cubicBezTo>
                    <a:pt x="935609" y="726186"/>
                    <a:pt x="726186" y="935736"/>
                    <a:pt x="467741" y="935736"/>
                  </a:cubicBezTo>
                  <a:lnTo>
                    <a:pt x="467741" y="916686"/>
                  </a:lnTo>
                  <a:lnTo>
                    <a:pt x="467741" y="935736"/>
                  </a:lnTo>
                  <a:cubicBezTo>
                    <a:pt x="209423" y="935609"/>
                    <a:pt x="0" y="726186"/>
                    <a:pt x="0" y="467868"/>
                  </a:cubicBezTo>
                  <a:lnTo>
                    <a:pt x="19050" y="467868"/>
                  </a:lnTo>
                  <a:lnTo>
                    <a:pt x="0" y="467868"/>
                  </a:lnTo>
                  <a:moveTo>
                    <a:pt x="38100" y="467868"/>
                  </a:moveTo>
                  <a:lnTo>
                    <a:pt x="19050" y="467868"/>
                  </a:lnTo>
                  <a:lnTo>
                    <a:pt x="38100" y="467868"/>
                  </a:lnTo>
                  <a:cubicBezTo>
                    <a:pt x="38100" y="705104"/>
                    <a:pt x="230505" y="897509"/>
                    <a:pt x="467868" y="897509"/>
                  </a:cubicBezTo>
                  <a:cubicBezTo>
                    <a:pt x="705231" y="897509"/>
                    <a:pt x="897509" y="705104"/>
                    <a:pt x="897509" y="467868"/>
                  </a:cubicBezTo>
                  <a:cubicBezTo>
                    <a:pt x="897509" y="460629"/>
                    <a:pt x="901573" y="454025"/>
                    <a:pt x="908050" y="450850"/>
                  </a:cubicBezTo>
                  <a:lnTo>
                    <a:pt x="916559" y="467868"/>
                  </a:lnTo>
                  <a:lnTo>
                    <a:pt x="897509" y="467868"/>
                  </a:lnTo>
                  <a:cubicBezTo>
                    <a:pt x="897509" y="230505"/>
                    <a:pt x="705104" y="38100"/>
                    <a:pt x="467868" y="38100"/>
                  </a:cubicBezTo>
                  <a:cubicBezTo>
                    <a:pt x="464312" y="38100"/>
                    <a:pt x="460756" y="37084"/>
                    <a:pt x="457835" y="35179"/>
                  </a:cubicBezTo>
                  <a:lnTo>
                    <a:pt x="467868" y="19050"/>
                  </a:lnTo>
                  <a:lnTo>
                    <a:pt x="467868" y="38100"/>
                  </a:lnTo>
                  <a:cubicBezTo>
                    <a:pt x="230505" y="38100"/>
                    <a:pt x="38100" y="230505"/>
                    <a:pt x="38100" y="467868"/>
                  </a:cubicBezTo>
                  <a:close/>
                </a:path>
              </a:pathLst>
            </a:custGeom>
            <a:solidFill>
              <a:srgbClr val="D742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932739" y="5055096"/>
            <a:ext cx="422374" cy="47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40020" y="5009258"/>
            <a:ext cx="5065662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Fase 2: Desarrollo e Integración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40020" y="5552480"/>
            <a:ext cx="6600825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(Semanas 5-13)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47942" y="6790432"/>
            <a:ext cx="897582" cy="38100"/>
            <a:chOff x="0" y="0"/>
            <a:chExt cx="1196777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6721" cy="50800"/>
            </a:xfrm>
            <a:custGeom>
              <a:avLst/>
              <a:gdLst/>
              <a:ahLst/>
              <a:cxnLst/>
              <a:rect r="r" b="b" t="t" l="l"/>
              <a:pathLst>
                <a:path h="50800" w="119672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71321" y="0"/>
                  </a:lnTo>
                  <a:cubicBezTo>
                    <a:pt x="1185291" y="0"/>
                    <a:pt x="1196721" y="11430"/>
                    <a:pt x="1196721" y="25400"/>
                  </a:cubicBezTo>
                  <a:cubicBezTo>
                    <a:pt x="1196721" y="39370"/>
                    <a:pt x="1185291" y="50800"/>
                    <a:pt x="117132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793138" y="6458694"/>
            <a:ext cx="701725" cy="701725"/>
            <a:chOff x="0" y="0"/>
            <a:chExt cx="935633" cy="9356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9050" y="19050"/>
              <a:ext cx="897509" cy="897509"/>
            </a:xfrm>
            <a:custGeom>
              <a:avLst/>
              <a:gdLst/>
              <a:ahLst/>
              <a:cxnLst/>
              <a:rect r="r" b="b" t="t" l="l"/>
              <a:pathLst>
                <a:path h="897509" w="897509">
                  <a:moveTo>
                    <a:pt x="0" y="448818"/>
                  </a:moveTo>
                  <a:cubicBezTo>
                    <a:pt x="0" y="200914"/>
                    <a:pt x="200914" y="0"/>
                    <a:pt x="448818" y="0"/>
                  </a:cubicBezTo>
                  <a:cubicBezTo>
                    <a:pt x="696722" y="0"/>
                    <a:pt x="897509" y="200914"/>
                    <a:pt x="897509" y="448818"/>
                  </a:cubicBezTo>
                  <a:cubicBezTo>
                    <a:pt x="897509" y="696722"/>
                    <a:pt x="696595" y="897509"/>
                    <a:pt x="448818" y="897509"/>
                  </a:cubicBezTo>
                  <a:cubicBezTo>
                    <a:pt x="201041" y="897509"/>
                    <a:pt x="0" y="696595"/>
                    <a:pt x="0" y="448818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5609" cy="935736"/>
            </a:xfrm>
            <a:custGeom>
              <a:avLst/>
              <a:gdLst/>
              <a:ahLst/>
              <a:cxnLst/>
              <a:rect r="r" b="b" t="t" l="l"/>
              <a:pathLst>
                <a:path h="935736" w="935609">
                  <a:moveTo>
                    <a:pt x="0" y="467868"/>
                  </a:moveTo>
                  <a:cubicBezTo>
                    <a:pt x="0" y="209423"/>
                    <a:pt x="209423" y="0"/>
                    <a:pt x="467868" y="0"/>
                  </a:cubicBezTo>
                  <a:cubicBezTo>
                    <a:pt x="471424" y="0"/>
                    <a:pt x="474980" y="1016"/>
                    <a:pt x="477901" y="2921"/>
                  </a:cubicBezTo>
                  <a:lnTo>
                    <a:pt x="467868" y="19050"/>
                  </a:lnTo>
                  <a:lnTo>
                    <a:pt x="467868" y="0"/>
                  </a:lnTo>
                  <a:lnTo>
                    <a:pt x="467868" y="19050"/>
                  </a:lnTo>
                  <a:lnTo>
                    <a:pt x="467868" y="0"/>
                  </a:lnTo>
                  <a:cubicBezTo>
                    <a:pt x="726186" y="0"/>
                    <a:pt x="935609" y="209423"/>
                    <a:pt x="935609" y="467868"/>
                  </a:cubicBezTo>
                  <a:cubicBezTo>
                    <a:pt x="935609" y="475107"/>
                    <a:pt x="931545" y="481711"/>
                    <a:pt x="925068" y="484886"/>
                  </a:cubicBezTo>
                  <a:lnTo>
                    <a:pt x="916559" y="467868"/>
                  </a:lnTo>
                  <a:lnTo>
                    <a:pt x="935609" y="467868"/>
                  </a:lnTo>
                  <a:cubicBezTo>
                    <a:pt x="935609" y="726186"/>
                    <a:pt x="726186" y="935736"/>
                    <a:pt x="467741" y="935736"/>
                  </a:cubicBezTo>
                  <a:lnTo>
                    <a:pt x="467741" y="916686"/>
                  </a:lnTo>
                  <a:lnTo>
                    <a:pt x="467741" y="935736"/>
                  </a:lnTo>
                  <a:cubicBezTo>
                    <a:pt x="209423" y="935609"/>
                    <a:pt x="0" y="726186"/>
                    <a:pt x="0" y="467868"/>
                  </a:cubicBezTo>
                  <a:lnTo>
                    <a:pt x="19050" y="467868"/>
                  </a:lnTo>
                  <a:lnTo>
                    <a:pt x="0" y="467868"/>
                  </a:lnTo>
                  <a:moveTo>
                    <a:pt x="38100" y="467868"/>
                  </a:moveTo>
                  <a:lnTo>
                    <a:pt x="19050" y="467868"/>
                  </a:lnTo>
                  <a:lnTo>
                    <a:pt x="38100" y="467868"/>
                  </a:lnTo>
                  <a:cubicBezTo>
                    <a:pt x="38100" y="705104"/>
                    <a:pt x="230505" y="897509"/>
                    <a:pt x="467868" y="897509"/>
                  </a:cubicBezTo>
                  <a:cubicBezTo>
                    <a:pt x="705231" y="897509"/>
                    <a:pt x="897509" y="705104"/>
                    <a:pt x="897509" y="467868"/>
                  </a:cubicBezTo>
                  <a:cubicBezTo>
                    <a:pt x="897509" y="460629"/>
                    <a:pt x="901573" y="454025"/>
                    <a:pt x="908050" y="450850"/>
                  </a:cubicBezTo>
                  <a:lnTo>
                    <a:pt x="916559" y="467868"/>
                  </a:lnTo>
                  <a:lnTo>
                    <a:pt x="897509" y="467868"/>
                  </a:lnTo>
                  <a:cubicBezTo>
                    <a:pt x="897509" y="230505"/>
                    <a:pt x="705104" y="38100"/>
                    <a:pt x="467868" y="38100"/>
                  </a:cubicBezTo>
                  <a:cubicBezTo>
                    <a:pt x="464312" y="38100"/>
                    <a:pt x="460756" y="37084"/>
                    <a:pt x="457835" y="35179"/>
                  </a:cubicBezTo>
                  <a:lnTo>
                    <a:pt x="467868" y="19050"/>
                  </a:lnTo>
                  <a:lnTo>
                    <a:pt x="467868" y="38100"/>
                  </a:lnTo>
                  <a:cubicBezTo>
                    <a:pt x="230505" y="38100"/>
                    <a:pt x="38100" y="230505"/>
                    <a:pt x="38100" y="467868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932739" y="6602611"/>
            <a:ext cx="422374" cy="47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47802" y="6556772"/>
            <a:ext cx="3800177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Fase 3: Cierre y Entrega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155" y="7099995"/>
            <a:ext cx="6600825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(Semanas 13-15)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888355"/>
            <a:ext cx="10104388" cy="58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Arquitectura de Software: Modelo de Tres Capas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594449" y="1858715"/>
            <a:ext cx="7098952" cy="5335786"/>
            <a:chOff x="0" y="0"/>
            <a:chExt cx="9465270" cy="711438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465310" cy="7114413"/>
            </a:xfrm>
            <a:custGeom>
              <a:avLst/>
              <a:gdLst/>
              <a:ahLst/>
              <a:cxnLst/>
              <a:rect r="r" b="b" t="t" l="l"/>
              <a:pathLst>
                <a:path h="7114413" w="9465310">
                  <a:moveTo>
                    <a:pt x="0" y="0"/>
                  </a:moveTo>
                  <a:lnTo>
                    <a:pt x="9465310" y="0"/>
                  </a:lnTo>
                  <a:lnTo>
                    <a:pt x="9465310" y="7114413"/>
                  </a:lnTo>
                  <a:lnTo>
                    <a:pt x="0" y="711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0" b="-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493729" y="4284206"/>
            <a:ext cx="1294634" cy="84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Arquitectura de tres capas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0416" y="5783594"/>
            <a:ext cx="1925999" cy="28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GCP Backend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30416" y="6146230"/>
            <a:ext cx="1925999" cy="48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API, Cloud Functions, BigQuery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14986" y="5902005"/>
            <a:ext cx="1925999" cy="28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Looker Studio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4986" y="6264641"/>
            <a:ext cx="1925999" cy="24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Capa de visualización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6387" y="2144574"/>
            <a:ext cx="1978626" cy="5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App móvil (Frontend)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46387" y="2785641"/>
            <a:ext cx="1978626" cy="48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Interfaz de usuario nativa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7630" y="7403752"/>
            <a:ext cx="5287268" cy="1994744"/>
            <a:chOff x="0" y="0"/>
            <a:chExt cx="7049690" cy="26596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7024243" cy="2634234"/>
            </a:xfrm>
            <a:custGeom>
              <a:avLst/>
              <a:gdLst/>
              <a:ahLst/>
              <a:cxnLst/>
              <a:rect r="r" b="b" t="t" l="l"/>
              <a:pathLst>
                <a:path h="2634234" w="7024243">
                  <a:moveTo>
                    <a:pt x="0" y="389001"/>
                  </a:moveTo>
                  <a:cubicBezTo>
                    <a:pt x="0" y="174117"/>
                    <a:pt x="175260" y="0"/>
                    <a:pt x="391287" y="0"/>
                  </a:cubicBezTo>
                  <a:lnTo>
                    <a:pt x="6632956" y="0"/>
                  </a:lnTo>
                  <a:cubicBezTo>
                    <a:pt x="6849111" y="0"/>
                    <a:pt x="7024243" y="174117"/>
                    <a:pt x="7024243" y="389001"/>
                  </a:cubicBezTo>
                  <a:lnTo>
                    <a:pt x="7024243" y="2245233"/>
                  </a:lnTo>
                  <a:cubicBezTo>
                    <a:pt x="7024243" y="2460117"/>
                    <a:pt x="6848983" y="2634234"/>
                    <a:pt x="6632956" y="2634234"/>
                  </a:cubicBezTo>
                  <a:lnTo>
                    <a:pt x="391287" y="2634234"/>
                  </a:lnTo>
                  <a:cubicBezTo>
                    <a:pt x="175260" y="2634234"/>
                    <a:pt x="0" y="2460117"/>
                    <a:pt x="0" y="2245233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9643" cy="2659634"/>
            </a:xfrm>
            <a:custGeom>
              <a:avLst/>
              <a:gdLst/>
              <a:ahLst/>
              <a:cxnLst/>
              <a:rect r="r" b="b" t="t" l="l"/>
              <a:pathLst>
                <a:path h="2659634" w="7049643">
                  <a:moveTo>
                    <a:pt x="0" y="401701"/>
                  </a:moveTo>
                  <a:cubicBezTo>
                    <a:pt x="0" y="179832"/>
                    <a:pt x="180975" y="0"/>
                    <a:pt x="403987" y="0"/>
                  </a:cubicBezTo>
                  <a:lnTo>
                    <a:pt x="6645656" y="0"/>
                  </a:lnTo>
                  <a:lnTo>
                    <a:pt x="6645656" y="12700"/>
                  </a:lnTo>
                  <a:lnTo>
                    <a:pt x="6645656" y="0"/>
                  </a:lnTo>
                  <a:cubicBezTo>
                    <a:pt x="6868668" y="0"/>
                    <a:pt x="7049643" y="179832"/>
                    <a:pt x="7049643" y="401701"/>
                  </a:cubicBezTo>
                  <a:lnTo>
                    <a:pt x="7049643" y="2257933"/>
                  </a:lnTo>
                  <a:lnTo>
                    <a:pt x="7036943" y="2257933"/>
                  </a:lnTo>
                  <a:lnTo>
                    <a:pt x="7049643" y="2257933"/>
                  </a:lnTo>
                  <a:cubicBezTo>
                    <a:pt x="7049643" y="2479802"/>
                    <a:pt x="6868668" y="2659634"/>
                    <a:pt x="6645656" y="2659634"/>
                  </a:cubicBezTo>
                  <a:lnTo>
                    <a:pt x="6645656" y="2646934"/>
                  </a:lnTo>
                  <a:lnTo>
                    <a:pt x="6645656" y="2659634"/>
                  </a:lnTo>
                  <a:lnTo>
                    <a:pt x="403987" y="2659634"/>
                  </a:lnTo>
                  <a:lnTo>
                    <a:pt x="403987" y="2646934"/>
                  </a:lnTo>
                  <a:lnTo>
                    <a:pt x="403987" y="2659634"/>
                  </a:lnTo>
                  <a:cubicBezTo>
                    <a:pt x="180975" y="2659634"/>
                    <a:pt x="0" y="2479929"/>
                    <a:pt x="0" y="2257933"/>
                  </a:cubicBezTo>
                  <a:lnTo>
                    <a:pt x="0" y="401701"/>
                  </a:lnTo>
                  <a:lnTo>
                    <a:pt x="12700" y="401701"/>
                  </a:lnTo>
                  <a:lnTo>
                    <a:pt x="0" y="401701"/>
                  </a:lnTo>
                  <a:moveTo>
                    <a:pt x="25400" y="401701"/>
                  </a:moveTo>
                  <a:lnTo>
                    <a:pt x="25400" y="2257933"/>
                  </a:lnTo>
                  <a:lnTo>
                    <a:pt x="12700" y="2257933"/>
                  </a:lnTo>
                  <a:lnTo>
                    <a:pt x="25400" y="2257933"/>
                  </a:lnTo>
                  <a:cubicBezTo>
                    <a:pt x="25400" y="2465705"/>
                    <a:pt x="194818" y="2634234"/>
                    <a:pt x="403987" y="2634234"/>
                  </a:cubicBezTo>
                  <a:lnTo>
                    <a:pt x="6645656" y="2634234"/>
                  </a:lnTo>
                  <a:cubicBezTo>
                    <a:pt x="6854825" y="2634234"/>
                    <a:pt x="7024243" y="2465705"/>
                    <a:pt x="7024243" y="2257933"/>
                  </a:cubicBezTo>
                  <a:lnTo>
                    <a:pt x="7024243" y="401701"/>
                  </a:lnTo>
                  <a:lnTo>
                    <a:pt x="7036943" y="401701"/>
                  </a:lnTo>
                  <a:lnTo>
                    <a:pt x="7024243" y="401701"/>
                  </a:lnTo>
                  <a:cubicBezTo>
                    <a:pt x="7024243" y="193929"/>
                    <a:pt x="6854825" y="25400"/>
                    <a:pt x="6645656" y="25400"/>
                  </a:cubicBezTo>
                  <a:lnTo>
                    <a:pt x="403987" y="25400"/>
                  </a:lnTo>
                  <a:lnTo>
                    <a:pt x="403987" y="12700"/>
                  </a:lnTo>
                  <a:lnTo>
                    <a:pt x="403987" y="25400"/>
                  </a:lnTo>
                  <a:cubicBezTo>
                    <a:pt x="194818" y="25400"/>
                    <a:pt x="25400" y="193929"/>
                    <a:pt x="25400" y="401701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60574" y="7626697"/>
            <a:ext cx="583406" cy="583406"/>
            <a:chOff x="0" y="0"/>
            <a:chExt cx="777875" cy="7778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7875" cy="777875"/>
            </a:xfrm>
            <a:custGeom>
              <a:avLst/>
              <a:gdLst/>
              <a:ahLst/>
              <a:cxnLst/>
              <a:rect r="r" b="b" t="t" l="l"/>
              <a:pathLst>
                <a:path h="777875" w="777875">
                  <a:moveTo>
                    <a:pt x="0" y="388874"/>
                  </a:moveTo>
                  <a:cubicBezTo>
                    <a:pt x="0" y="174117"/>
                    <a:pt x="174117" y="0"/>
                    <a:pt x="388874" y="0"/>
                  </a:cubicBezTo>
                  <a:cubicBezTo>
                    <a:pt x="603631" y="0"/>
                    <a:pt x="777875" y="174117"/>
                    <a:pt x="777875" y="388874"/>
                  </a:cubicBezTo>
                  <a:cubicBezTo>
                    <a:pt x="777875" y="603631"/>
                    <a:pt x="603758" y="777875"/>
                    <a:pt x="388874" y="777875"/>
                  </a:cubicBezTo>
                  <a:cubicBezTo>
                    <a:pt x="173990" y="777875"/>
                    <a:pt x="0" y="603758"/>
                    <a:pt x="0" y="389001"/>
                  </a:cubicBezTo>
                  <a:close/>
                </a:path>
              </a:pathLst>
            </a:custGeom>
            <a:solidFill>
              <a:srgbClr val="DD78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421011" y="7786985"/>
            <a:ext cx="262533" cy="262532"/>
          </a:xfrm>
          <a:custGeom>
            <a:avLst/>
            <a:gdLst/>
            <a:ahLst/>
            <a:cxnLst/>
            <a:rect r="r" b="b" t="t" l="l"/>
            <a:pathLst>
              <a:path h="262532" w="262533">
                <a:moveTo>
                  <a:pt x="0" y="0"/>
                </a:moveTo>
                <a:lnTo>
                  <a:pt x="262533" y="0"/>
                </a:lnTo>
                <a:lnTo>
                  <a:pt x="262533" y="262532"/>
                </a:lnTo>
                <a:lnTo>
                  <a:pt x="0" y="262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142" r="0" b="-7142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60574" y="8394947"/>
            <a:ext cx="3692426" cy="35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Capa 1: Frontend (App Móvil)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00217" y="7403752"/>
            <a:ext cx="5287416" cy="1994744"/>
            <a:chOff x="0" y="0"/>
            <a:chExt cx="7049888" cy="26596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7024497" cy="2634234"/>
            </a:xfrm>
            <a:custGeom>
              <a:avLst/>
              <a:gdLst/>
              <a:ahLst/>
              <a:cxnLst/>
              <a:rect r="r" b="b" t="t" l="l"/>
              <a:pathLst>
                <a:path h="2634234" w="7024497">
                  <a:moveTo>
                    <a:pt x="0" y="389001"/>
                  </a:moveTo>
                  <a:cubicBezTo>
                    <a:pt x="0" y="174117"/>
                    <a:pt x="175260" y="0"/>
                    <a:pt x="391287" y="0"/>
                  </a:cubicBezTo>
                  <a:lnTo>
                    <a:pt x="6633210" y="0"/>
                  </a:lnTo>
                  <a:cubicBezTo>
                    <a:pt x="6849364" y="0"/>
                    <a:pt x="7024497" y="174117"/>
                    <a:pt x="7024497" y="389001"/>
                  </a:cubicBezTo>
                  <a:lnTo>
                    <a:pt x="7024497" y="2245233"/>
                  </a:lnTo>
                  <a:cubicBezTo>
                    <a:pt x="7024497" y="2460117"/>
                    <a:pt x="6849237" y="2634234"/>
                    <a:pt x="6633210" y="2634234"/>
                  </a:cubicBezTo>
                  <a:lnTo>
                    <a:pt x="391287" y="2634234"/>
                  </a:lnTo>
                  <a:cubicBezTo>
                    <a:pt x="175260" y="2634234"/>
                    <a:pt x="0" y="2460117"/>
                    <a:pt x="0" y="2245233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9897" cy="2659634"/>
            </a:xfrm>
            <a:custGeom>
              <a:avLst/>
              <a:gdLst/>
              <a:ahLst/>
              <a:cxnLst/>
              <a:rect r="r" b="b" t="t" l="l"/>
              <a:pathLst>
                <a:path h="2659634" w="7049897">
                  <a:moveTo>
                    <a:pt x="0" y="401701"/>
                  </a:moveTo>
                  <a:cubicBezTo>
                    <a:pt x="0" y="179832"/>
                    <a:pt x="180975" y="0"/>
                    <a:pt x="403987" y="0"/>
                  </a:cubicBezTo>
                  <a:lnTo>
                    <a:pt x="6645910" y="0"/>
                  </a:lnTo>
                  <a:lnTo>
                    <a:pt x="6645910" y="12700"/>
                  </a:lnTo>
                  <a:lnTo>
                    <a:pt x="6645910" y="0"/>
                  </a:lnTo>
                  <a:cubicBezTo>
                    <a:pt x="6868922" y="0"/>
                    <a:pt x="7049897" y="179832"/>
                    <a:pt x="7049897" y="401701"/>
                  </a:cubicBezTo>
                  <a:lnTo>
                    <a:pt x="7037197" y="401701"/>
                  </a:lnTo>
                  <a:lnTo>
                    <a:pt x="7049897" y="401701"/>
                  </a:lnTo>
                  <a:lnTo>
                    <a:pt x="7049897" y="2257933"/>
                  </a:lnTo>
                  <a:lnTo>
                    <a:pt x="7037197" y="2257933"/>
                  </a:lnTo>
                  <a:lnTo>
                    <a:pt x="7049897" y="2257933"/>
                  </a:lnTo>
                  <a:cubicBezTo>
                    <a:pt x="7049897" y="2479802"/>
                    <a:pt x="6868922" y="2659634"/>
                    <a:pt x="6645910" y="2659634"/>
                  </a:cubicBezTo>
                  <a:lnTo>
                    <a:pt x="6645910" y="2646934"/>
                  </a:lnTo>
                  <a:lnTo>
                    <a:pt x="6645910" y="2659634"/>
                  </a:lnTo>
                  <a:lnTo>
                    <a:pt x="403987" y="2659634"/>
                  </a:lnTo>
                  <a:lnTo>
                    <a:pt x="403987" y="2646934"/>
                  </a:lnTo>
                  <a:lnTo>
                    <a:pt x="403987" y="2659634"/>
                  </a:lnTo>
                  <a:cubicBezTo>
                    <a:pt x="180975" y="2659634"/>
                    <a:pt x="0" y="2479929"/>
                    <a:pt x="0" y="2257933"/>
                  </a:cubicBezTo>
                  <a:lnTo>
                    <a:pt x="0" y="401701"/>
                  </a:lnTo>
                  <a:lnTo>
                    <a:pt x="12700" y="401701"/>
                  </a:lnTo>
                  <a:lnTo>
                    <a:pt x="0" y="401701"/>
                  </a:lnTo>
                  <a:moveTo>
                    <a:pt x="25400" y="401701"/>
                  </a:moveTo>
                  <a:lnTo>
                    <a:pt x="25400" y="2257933"/>
                  </a:lnTo>
                  <a:lnTo>
                    <a:pt x="12700" y="2257933"/>
                  </a:lnTo>
                  <a:lnTo>
                    <a:pt x="25400" y="2257933"/>
                  </a:lnTo>
                  <a:cubicBezTo>
                    <a:pt x="25400" y="2465705"/>
                    <a:pt x="194818" y="2634234"/>
                    <a:pt x="403987" y="2634234"/>
                  </a:cubicBezTo>
                  <a:lnTo>
                    <a:pt x="6645910" y="2634234"/>
                  </a:lnTo>
                  <a:cubicBezTo>
                    <a:pt x="6855078" y="2634234"/>
                    <a:pt x="7024497" y="2465705"/>
                    <a:pt x="7024497" y="2257933"/>
                  </a:cubicBezTo>
                  <a:lnTo>
                    <a:pt x="7024497" y="401701"/>
                  </a:lnTo>
                  <a:cubicBezTo>
                    <a:pt x="7024497" y="193929"/>
                    <a:pt x="6855079" y="25400"/>
                    <a:pt x="6645910" y="25400"/>
                  </a:cubicBezTo>
                  <a:lnTo>
                    <a:pt x="403987" y="25400"/>
                  </a:lnTo>
                  <a:lnTo>
                    <a:pt x="403987" y="12700"/>
                  </a:lnTo>
                  <a:lnTo>
                    <a:pt x="403987" y="25400"/>
                  </a:lnTo>
                  <a:cubicBezTo>
                    <a:pt x="194818" y="25400"/>
                    <a:pt x="25400" y="193929"/>
                    <a:pt x="25400" y="401701"/>
                  </a:cubicBezTo>
                  <a:close/>
                </a:path>
              </a:pathLst>
            </a:custGeom>
            <a:solidFill>
              <a:srgbClr val="48A8E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723161" y="7626697"/>
            <a:ext cx="583406" cy="583406"/>
            <a:chOff x="0" y="0"/>
            <a:chExt cx="777875" cy="7778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7875" cy="777875"/>
            </a:xfrm>
            <a:custGeom>
              <a:avLst/>
              <a:gdLst/>
              <a:ahLst/>
              <a:cxnLst/>
              <a:rect r="r" b="b" t="t" l="l"/>
              <a:pathLst>
                <a:path h="777875" w="777875">
                  <a:moveTo>
                    <a:pt x="0" y="388874"/>
                  </a:moveTo>
                  <a:cubicBezTo>
                    <a:pt x="0" y="174117"/>
                    <a:pt x="174117" y="0"/>
                    <a:pt x="388874" y="0"/>
                  </a:cubicBezTo>
                  <a:cubicBezTo>
                    <a:pt x="603631" y="0"/>
                    <a:pt x="777875" y="174117"/>
                    <a:pt x="777875" y="388874"/>
                  </a:cubicBezTo>
                  <a:cubicBezTo>
                    <a:pt x="777875" y="603631"/>
                    <a:pt x="603758" y="777875"/>
                    <a:pt x="388874" y="777875"/>
                  </a:cubicBezTo>
                  <a:cubicBezTo>
                    <a:pt x="173990" y="777875"/>
                    <a:pt x="0" y="603758"/>
                    <a:pt x="0" y="389001"/>
                  </a:cubicBezTo>
                  <a:close/>
                </a:path>
              </a:pathLst>
            </a:custGeom>
            <a:solidFill>
              <a:srgbClr val="48A8E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6883599" y="7786985"/>
            <a:ext cx="262532" cy="262532"/>
          </a:xfrm>
          <a:custGeom>
            <a:avLst/>
            <a:gdLst/>
            <a:ahLst/>
            <a:cxnLst/>
            <a:rect r="r" b="b" t="t" l="l"/>
            <a:pathLst>
              <a:path h="262532" w="262532">
                <a:moveTo>
                  <a:pt x="0" y="0"/>
                </a:moveTo>
                <a:lnTo>
                  <a:pt x="262532" y="0"/>
                </a:lnTo>
                <a:lnTo>
                  <a:pt x="262532" y="262532"/>
                </a:lnTo>
                <a:lnTo>
                  <a:pt x="0" y="2625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142" t="0" r="-7142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723161" y="8394947"/>
            <a:ext cx="2895451" cy="35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Capa 2: Backend (GCP)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962954" y="7403752"/>
            <a:ext cx="5287268" cy="1994744"/>
            <a:chOff x="0" y="0"/>
            <a:chExt cx="7049690" cy="26596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7024243" cy="2634234"/>
            </a:xfrm>
            <a:custGeom>
              <a:avLst/>
              <a:gdLst/>
              <a:ahLst/>
              <a:cxnLst/>
              <a:rect r="r" b="b" t="t" l="l"/>
              <a:pathLst>
                <a:path h="2634234" w="7024243">
                  <a:moveTo>
                    <a:pt x="0" y="389001"/>
                  </a:moveTo>
                  <a:cubicBezTo>
                    <a:pt x="0" y="174117"/>
                    <a:pt x="175260" y="0"/>
                    <a:pt x="391287" y="0"/>
                  </a:cubicBezTo>
                  <a:lnTo>
                    <a:pt x="6632956" y="0"/>
                  </a:lnTo>
                  <a:cubicBezTo>
                    <a:pt x="6849111" y="0"/>
                    <a:pt x="7024243" y="174117"/>
                    <a:pt x="7024243" y="389001"/>
                  </a:cubicBezTo>
                  <a:lnTo>
                    <a:pt x="7024243" y="2245233"/>
                  </a:lnTo>
                  <a:cubicBezTo>
                    <a:pt x="7024243" y="2460117"/>
                    <a:pt x="6848983" y="2634234"/>
                    <a:pt x="6632956" y="2634234"/>
                  </a:cubicBezTo>
                  <a:lnTo>
                    <a:pt x="391287" y="2634234"/>
                  </a:lnTo>
                  <a:cubicBezTo>
                    <a:pt x="175260" y="2634234"/>
                    <a:pt x="0" y="2460117"/>
                    <a:pt x="0" y="2245233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9643" cy="2659634"/>
            </a:xfrm>
            <a:custGeom>
              <a:avLst/>
              <a:gdLst/>
              <a:ahLst/>
              <a:cxnLst/>
              <a:rect r="r" b="b" t="t" l="l"/>
              <a:pathLst>
                <a:path h="2659634" w="7049643">
                  <a:moveTo>
                    <a:pt x="0" y="401701"/>
                  </a:moveTo>
                  <a:cubicBezTo>
                    <a:pt x="0" y="179832"/>
                    <a:pt x="180975" y="0"/>
                    <a:pt x="403987" y="0"/>
                  </a:cubicBezTo>
                  <a:lnTo>
                    <a:pt x="6645656" y="0"/>
                  </a:lnTo>
                  <a:lnTo>
                    <a:pt x="6645656" y="12700"/>
                  </a:lnTo>
                  <a:lnTo>
                    <a:pt x="6645656" y="0"/>
                  </a:lnTo>
                  <a:cubicBezTo>
                    <a:pt x="6868668" y="0"/>
                    <a:pt x="7049643" y="179832"/>
                    <a:pt x="7049643" y="401701"/>
                  </a:cubicBezTo>
                  <a:lnTo>
                    <a:pt x="7049643" y="2257933"/>
                  </a:lnTo>
                  <a:lnTo>
                    <a:pt x="7036943" y="2257933"/>
                  </a:lnTo>
                  <a:lnTo>
                    <a:pt x="7049643" y="2257933"/>
                  </a:lnTo>
                  <a:cubicBezTo>
                    <a:pt x="7049643" y="2479802"/>
                    <a:pt x="6868668" y="2659634"/>
                    <a:pt x="6645656" y="2659634"/>
                  </a:cubicBezTo>
                  <a:lnTo>
                    <a:pt x="6645656" y="2646934"/>
                  </a:lnTo>
                  <a:lnTo>
                    <a:pt x="6645656" y="2659634"/>
                  </a:lnTo>
                  <a:lnTo>
                    <a:pt x="403987" y="2659634"/>
                  </a:lnTo>
                  <a:lnTo>
                    <a:pt x="403987" y="2646934"/>
                  </a:lnTo>
                  <a:lnTo>
                    <a:pt x="403987" y="2659634"/>
                  </a:lnTo>
                  <a:cubicBezTo>
                    <a:pt x="180975" y="2659634"/>
                    <a:pt x="0" y="2479929"/>
                    <a:pt x="0" y="2257933"/>
                  </a:cubicBezTo>
                  <a:lnTo>
                    <a:pt x="0" y="401701"/>
                  </a:lnTo>
                  <a:lnTo>
                    <a:pt x="12700" y="401701"/>
                  </a:lnTo>
                  <a:lnTo>
                    <a:pt x="0" y="401701"/>
                  </a:lnTo>
                  <a:moveTo>
                    <a:pt x="25400" y="401701"/>
                  </a:moveTo>
                  <a:lnTo>
                    <a:pt x="25400" y="2257933"/>
                  </a:lnTo>
                  <a:lnTo>
                    <a:pt x="12700" y="2257933"/>
                  </a:lnTo>
                  <a:lnTo>
                    <a:pt x="25400" y="2257933"/>
                  </a:lnTo>
                  <a:cubicBezTo>
                    <a:pt x="25400" y="2465705"/>
                    <a:pt x="194818" y="2634234"/>
                    <a:pt x="403987" y="2634234"/>
                  </a:cubicBezTo>
                  <a:lnTo>
                    <a:pt x="6645656" y="2634234"/>
                  </a:lnTo>
                  <a:cubicBezTo>
                    <a:pt x="6854825" y="2634234"/>
                    <a:pt x="7024243" y="2465705"/>
                    <a:pt x="7024243" y="2257933"/>
                  </a:cubicBezTo>
                  <a:lnTo>
                    <a:pt x="7024243" y="401701"/>
                  </a:lnTo>
                  <a:lnTo>
                    <a:pt x="7036943" y="401701"/>
                  </a:lnTo>
                  <a:lnTo>
                    <a:pt x="7024243" y="401701"/>
                  </a:lnTo>
                  <a:cubicBezTo>
                    <a:pt x="7024243" y="193929"/>
                    <a:pt x="6854825" y="25400"/>
                    <a:pt x="6645656" y="25400"/>
                  </a:cubicBezTo>
                  <a:lnTo>
                    <a:pt x="403987" y="25400"/>
                  </a:lnTo>
                  <a:lnTo>
                    <a:pt x="403987" y="12700"/>
                  </a:lnTo>
                  <a:lnTo>
                    <a:pt x="403987" y="25400"/>
                  </a:lnTo>
                  <a:cubicBezTo>
                    <a:pt x="194818" y="25400"/>
                    <a:pt x="25400" y="193929"/>
                    <a:pt x="25400" y="401701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185897" y="7626697"/>
            <a:ext cx="583406" cy="583406"/>
            <a:chOff x="0" y="0"/>
            <a:chExt cx="777875" cy="7778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77875" cy="777875"/>
            </a:xfrm>
            <a:custGeom>
              <a:avLst/>
              <a:gdLst/>
              <a:ahLst/>
              <a:cxnLst/>
              <a:rect r="r" b="b" t="t" l="l"/>
              <a:pathLst>
                <a:path h="777875" w="777875">
                  <a:moveTo>
                    <a:pt x="0" y="388874"/>
                  </a:moveTo>
                  <a:cubicBezTo>
                    <a:pt x="0" y="174117"/>
                    <a:pt x="174117" y="0"/>
                    <a:pt x="388874" y="0"/>
                  </a:cubicBezTo>
                  <a:cubicBezTo>
                    <a:pt x="603631" y="0"/>
                    <a:pt x="777875" y="174117"/>
                    <a:pt x="777875" y="388874"/>
                  </a:cubicBezTo>
                  <a:cubicBezTo>
                    <a:pt x="777875" y="603631"/>
                    <a:pt x="603758" y="777875"/>
                    <a:pt x="388874" y="777875"/>
                  </a:cubicBezTo>
                  <a:cubicBezTo>
                    <a:pt x="173990" y="777875"/>
                    <a:pt x="0" y="603758"/>
                    <a:pt x="0" y="389001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5" id="35" descr="preencoded.png"/>
          <p:cNvSpPr/>
          <p:nvPr/>
        </p:nvSpPr>
        <p:spPr>
          <a:xfrm flipH="false" flipV="false" rot="0">
            <a:off x="12346335" y="7786985"/>
            <a:ext cx="262532" cy="262532"/>
          </a:xfrm>
          <a:custGeom>
            <a:avLst/>
            <a:gdLst/>
            <a:ahLst/>
            <a:cxnLst/>
            <a:rect r="r" b="b" t="t" l="l"/>
            <a:pathLst>
              <a:path h="262532" w="262532">
                <a:moveTo>
                  <a:pt x="0" y="0"/>
                </a:moveTo>
                <a:lnTo>
                  <a:pt x="262532" y="0"/>
                </a:lnTo>
                <a:lnTo>
                  <a:pt x="262532" y="262532"/>
                </a:lnTo>
                <a:lnTo>
                  <a:pt x="0" y="2625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2185897" y="8394947"/>
            <a:ext cx="4635847" cy="35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Capa 3: Visualización (Looker Studio)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389757"/>
            <a:ext cx="9590634" cy="76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Modelo de Datos: Simple y Potente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32867" y="2651075"/>
            <a:ext cx="7998321" cy="4096048"/>
            <a:chOff x="0" y="0"/>
            <a:chExt cx="10664428" cy="54613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10626344" cy="5423408"/>
            </a:xfrm>
            <a:custGeom>
              <a:avLst/>
              <a:gdLst/>
              <a:ahLst/>
              <a:cxnLst/>
              <a:rect r="r" b="b" t="t" l="l"/>
              <a:pathLst>
                <a:path h="5423408" w="10626344">
                  <a:moveTo>
                    <a:pt x="0" y="508762"/>
                  </a:moveTo>
                  <a:cubicBezTo>
                    <a:pt x="0" y="227711"/>
                    <a:pt x="228473" y="0"/>
                    <a:pt x="510413" y="0"/>
                  </a:cubicBezTo>
                  <a:lnTo>
                    <a:pt x="10115931" y="0"/>
                  </a:lnTo>
                  <a:cubicBezTo>
                    <a:pt x="10397872" y="0"/>
                    <a:pt x="10626344" y="227711"/>
                    <a:pt x="10626344" y="508762"/>
                  </a:cubicBezTo>
                  <a:lnTo>
                    <a:pt x="10626344" y="4914646"/>
                  </a:lnTo>
                  <a:cubicBezTo>
                    <a:pt x="10626344" y="5195570"/>
                    <a:pt x="10397872" y="5423408"/>
                    <a:pt x="10115931" y="5423408"/>
                  </a:cubicBezTo>
                  <a:lnTo>
                    <a:pt x="510413" y="5423408"/>
                  </a:lnTo>
                  <a:cubicBezTo>
                    <a:pt x="228473" y="5423408"/>
                    <a:pt x="0" y="5195697"/>
                    <a:pt x="0" y="4914646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4444" cy="5461508"/>
            </a:xfrm>
            <a:custGeom>
              <a:avLst/>
              <a:gdLst/>
              <a:ahLst/>
              <a:cxnLst/>
              <a:rect r="r" b="b" t="t" l="l"/>
              <a:pathLst>
                <a:path h="5461508" w="10664444">
                  <a:moveTo>
                    <a:pt x="0" y="527812"/>
                  </a:moveTo>
                  <a:cubicBezTo>
                    <a:pt x="0" y="236220"/>
                    <a:pt x="237109" y="0"/>
                    <a:pt x="529463" y="0"/>
                  </a:cubicBezTo>
                  <a:lnTo>
                    <a:pt x="10134981" y="0"/>
                  </a:lnTo>
                  <a:lnTo>
                    <a:pt x="10134981" y="19050"/>
                  </a:lnTo>
                  <a:lnTo>
                    <a:pt x="10134981" y="0"/>
                  </a:lnTo>
                  <a:cubicBezTo>
                    <a:pt x="10427336" y="0"/>
                    <a:pt x="10664444" y="236220"/>
                    <a:pt x="10664444" y="527812"/>
                  </a:cubicBezTo>
                  <a:lnTo>
                    <a:pt x="10645394" y="527812"/>
                  </a:lnTo>
                  <a:lnTo>
                    <a:pt x="10664444" y="527812"/>
                  </a:lnTo>
                  <a:lnTo>
                    <a:pt x="10664444" y="4933696"/>
                  </a:lnTo>
                  <a:lnTo>
                    <a:pt x="10645394" y="4933696"/>
                  </a:lnTo>
                  <a:lnTo>
                    <a:pt x="10664444" y="4933696"/>
                  </a:lnTo>
                  <a:cubicBezTo>
                    <a:pt x="10664444" y="5225288"/>
                    <a:pt x="10427336" y="5461508"/>
                    <a:pt x="10134981" y="5461508"/>
                  </a:cubicBezTo>
                  <a:lnTo>
                    <a:pt x="10134981" y="5442458"/>
                  </a:lnTo>
                  <a:lnTo>
                    <a:pt x="10134981" y="5461508"/>
                  </a:lnTo>
                  <a:lnTo>
                    <a:pt x="529463" y="5461508"/>
                  </a:lnTo>
                  <a:lnTo>
                    <a:pt x="529463" y="5442458"/>
                  </a:lnTo>
                  <a:lnTo>
                    <a:pt x="529463" y="5461508"/>
                  </a:lnTo>
                  <a:cubicBezTo>
                    <a:pt x="237109" y="5461381"/>
                    <a:pt x="0" y="5225161"/>
                    <a:pt x="0" y="4933696"/>
                  </a:cubicBezTo>
                  <a:lnTo>
                    <a:pt x="0" y="527812"/>
                  </a:lnTo>
                  <a:lnTo>
                    <a:pt x="19050" y="527812"/>
                  </a:lnTo>
                  <a:lnTo>
                    <a:pt x="0" y="527812"/>
                  </a:lnTo>
                  <a:moveTo>
                    <a:pt x="38100" y="527812"/>
                  </a:moveTo>
                  <a:lnTo>
                    <a:pt x="38100" y="4933696"/>
                  </a:lnTo>
                  <a:lnTo>
                    <a:pt x="19050" y="4933696"/>
                  </a:lnTo>
                  <a:lnTo>
                    <a:pt x="38100" y="4933696"/>
                  </a:lnTo>
                  <a:cubicBezTo>
                    <a:pt x="38100" y="5204079"/>
                    <a:pt x="258064" y="5423408"/>
                    <a:pt x="529463" y="5423408"/>
                  </a:cubicBezTo>
                  <a:lnTo>
                    <a:pt x="10134981" y="5423408"/>
                  </a:lnTo>
                  <a:cubicBezTo>
                    <a:pt x="10406380" y="5423408"/>
                    <a:pt x="10626344" y="5204079"/>
                    <a:pt x="10626344" y="4933696"/>
                  </a:cubicBezTo>
                  <a:lnTo>
                    <a:pt x="10626344" y="527812"/>
                  </a:lnTo>
                  <a:cubicBezTo>
                    <a:pt x="10626344" y="257429"/>
                    <a:pt x="10406380" y="38100"/>
                    <a:pt x="10134981" y="38100"/>
                  </a:cubicBezTo>
                  <a:lnTo>
                    <a:pt x="529463" y="38100"/>
                  </a:lnTo>
                  <a:lnTo>
                    <a:pt x="529463" y="19050"/>
                  </a:lnTo>
                  <a:lnTo>
                    <a:pt x="529463" y="38100"/>
                  </a:lnTo>
                  <a:cubicBezTo>
                    <a:pt x="258064" y="38100"/>
                    <a:pt x="38100" y="257429"/>
                    <a:pt x="38100" y="527812"/>
                  </a:cubicBezTo>
                  <a:close/>
                </a:path>
              </a:pathLst>
            </a:custGeom>
            <a:solidFill>
              <a:srgbClr val="F2B42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5730" y="2693938"/>
            <a:ext cx="7912596" cy="762893"/>
            <a:chOff x="0" y="0"/>
            <a:chExt cx="10550128" cy="10171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50017" cy="1017143"/>
            </a:xfrm>
            <a:custGeom>
              <a:avLst/>
              <a:gdLst/>
              <a:ahLst/>
              <a:cxnLst/>
              <a:rect r="r" b="b" t="t" l="l"/>
              <a:pathLst>
                <a:path h="1017143" w="10550017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lnTo>
                    <a:pt x="10087102" y="0"/>
                  </a:lnTo>
                  <a:cubicBezTo>
                    <a:pt x="10342753" y="0"/>
                    <a:pt x="10550017" y="207264"/>
                    <a:pt x="10550017" y="462915"/>
                  </a:cubicBezTo>
                  <a:lnTo>
                    <a:pt x="10550017" y="554228"/>
                  </a:lnTo>
                  <a:cubicBezTo>
                    <a:pt x="10550017" y="809879"/>
                    <a:pt x="10342753" y="1017143"/>
                    <a:pt x="10087102" y="1017143"/>
                  </a:cubicBezTo>
                  <a:lnTo>
                    <a:pt x="462915" y="1017143"/>
                  </a:lnTo>
                  <a:cubicBezTo>
                    <a:pt x="207264" y="1017143"/>
                    <a:pt x="0" y="809879"/>
                    <a:pt x="0" y="554228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4841230" y="2870299"/>
            <a:ext cx="381446" cy="381446"/>
          </a:xfrm>
          <a:custGeom>
            <a:avLst/>
            <a:gdLst/>
            <a:ahLst/>
            <a:cxnLst/>
            <a:rect r="r" b="b" t="t" l="l"/>
            <a:pathLst>
              <a:path h="381446" w="381446">
                <a:moveTo>
                  <a:pt x="0" y="0"/>
                </a:moveTo>
                <a:lnTo>
                  <a:pt x="381446" y="0"/>
                </a:lnTo>
                <a:lnTo>
                  <a:pt x="381446" y="381446"/>
                </a:lnTo>
                <a:lnTo>
                  <a:pt x="0" y="38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" t="0" r="-243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29929" y="3701504"/>
            <a:ext cx="4612630" cy="38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Tabla </a:t>
            </a:r>
            <a:r>
              <a:rPr lang="en-US" sz="2312" b="true">
                <a:solidFill>
                  <a:srgbClr val="F2B42D"/>
                </a:solidFill>
                <a:latin typeface="Nunito Bold"/>
                <a:ea typeface="Nunito Bold"/>
                <a:cs typeface="Nunito Bold"/>
                <a:sym typeface="Nunito Bold"/>
              </a:rPr>
              <a:t>productos</a:t>
            </a:r>
            <a:r>
              <a:rPr lang="en-US" sz="2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 (Datos Maestros)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9929" y="4170909"/>
            <a:ext cx="7404199" cy="47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Propósito:</a:t>
            </a: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El "catálogo" de la empresa.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9929" y="4666804"/>
            <a:ext cx="7404199" cy="88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Contenido:</a:t>
            </a: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Información estática (SKU, nombre, categoría, precio).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9929" y="5569595"/>
            <a:ext cx="7404199" cy="88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Función:</a:t>
            </a: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Lectura de consulta (Muestra nombre/precio al escanear).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56811" y="2651075"/>
            <a:ext cx="7998321" cy="4096048"/>
            <a:chOff x="0" y="0"/>
            <a:chExt cx="10664428" cy="54613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10626344" cy="5423408"/>
            </a:xfrm>
            <a:custGeom>
              <a:avLst/>
              <a:gdLst/>
              <a:ahLst/>
              <a:cxnLst/>
              <a:rect r="r" b="b" t="t" l="l"/>
              <a:pathLst>
                <a:path h="5423408" w="10626344">
                  <a:moveTo>
                    <a:pt x="0" y="508762"/>
                  </a:moveTo>
                  <a:cubicBezTo>
                    <a:pt x="0" y="227711"/>
                    <a:pt x="228473" y="0"/>
                    <a:pt x="510413" y="0"/>
                  </a:cubicBezTo>
                  <a:lnTo>
                    <a:pt x="10115931" y="0"/>
                  </a:lnTo>
                  <a:cubicBezTo>
                    <a:pt x="10397872" y="0"/>
                    <a:pt x="10626344" y="227711"/>
                    <a:pt x="10626344" y="508762"/>
                  </a:cubicBezTo>
                  <a:lnTo>
                    <a:pt x="10626344" y="4914646"/>
                  </a:lnTo>
                  <a:cubicBezTo>
                    <a:pt x="10626344" y="5195570"/>
                    <a:pt x="10397872" y="5423408"/>
                    <a:pt x="10115931" y="5423408"/>
                  </a:cubicBezTo>
                  <a:lnTo>
                    <a:pt x="510413" y="5423408"/>
                  </a:lnTo>
                  <a:cubicBezTo>
                    <a:pt x="228473" y="5423408"/>
                    <a:pt x="0" y="5195697"/>
                    <a:pt x="0" y="4914646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4444" cy="5461508"/>
            </a:xfrm>
            <a:custGeom>
              <a:avLst/>
              <a:gdLst/>
              <a:ahLst/>
              <a:cxnLst/>
              <a:rect r="r" b="b" t="t" l="l"/>
              <a:pathLst>
                <a:path h="5461508" w="10664444">
                  <a:moveTo>
                    <a:pt x="0" y="527812"/>
                  </a:moveTo>
                  <a:cubicBezTo>
                    <a:pt x="0" y="236220"/>
                    <a:pt x="237109" y="0"/>
                    <a:pt x="529463" y="0"/>
                  </a:cubicBezTo>
                  <a:lnTo>
                    <a:pt x="10134981" y="0"/>
                  </a:lnTo>
                  <a:lnTo>
                    <a:pt x="10134981" y="19050"/>
                  </a:lnTo>
                  <a:lnTo>
                    <a:pt x="10134981" y="0"/>
                  </a:lnTo>
                  <a:cubicBezTo>
                    <a:pt x="10427336" y="0"/>
                    <a:pt x="10664444" y="236220"/>
                    <a:pt x="10664444" y="527812"/>
                  </a:cubicBezTo>
                  <a:lnTo>
                    <a:pt x="10645394" y="527812"/>
                  </a:lnTo>
                  <a:lnTo>
                    <a:pt x="10664444" y="527812"/>
                  </a:lnTo>
                  <a:lnTo>
                    <a:pt x="10664444" y="4933696"/>
                  </a:lnTo>
                  <a:lnTo>
                    <a:pt x="10645394" y="4933696"/>
                  </a:lnTo>
                  <a:lnTo>
                    <a:pt x="10664444" y="4933696"/>
                  </a:lnTo>
                  <a:cubicBezTo>
                    <a:pt x="10664444" y="5225288"/>
                    <a:pt x="10427336" y="5461508"/>
                    <a:pt x="10134981" y="5461508"/>
                  </a:cubicBezTo>
                  <a:lnTo>
                    <a:pt x="10134981" y="5442458"/>
                  </a:lnTo>
                  <a:lnTo>
                    <a:pt x="10134981" y="5461508"/>
                  </a:lnTo>
                  <a:lnTo>
                    <a:pt x="529463" y="5461508"/>
                  </a:lnTo>
                  <a:lnTo>
                    <a:pt x="529463" y="5442458"/>
                  </a:lnTo>
                  <a:lnTo>
                    <a:pt x="529463" y="5461508"/>
                  </a:lnTo>
                  <a:cubicBezTo>
                    <a:pt x="237109" y="5461381"/>
                    <a:pt x="0" y="5225161"/>
                    <a:pt x="0" y="4933696"/>
                  </a:cubicBezTo>
                  <a:lnTo>
                    <a:pt x="0" y="527812"/>
                  </a:lnTo>
                  <a:lnTo>
                    <a:pt x="19050" y="527812"/>
                  </a:lnTo>
                  <a:lnTo>
                    <a:pt x="0" y="527812"/>
                  </a:lnTo>
                  <a:moveTo>
                    <a:pt x="38100" y="527812"/>
                  </a:moveTo>
                  <a:lnTo>
                    <a:pt x="38100" y="4933696"/>
                  </a:lnTo>
                  <a:lnTo>
                    <a:pt x="19050" y="4933696"/>
                  </a:lnTo>
                  <a:lnTo>
                    <a:pt x="38100" y="4933696"/>
                  </a:lnTo>
                  <a:cubicBezTo>
                    <a:pt x="38100" y="5204079"/>
                    <a:pt x="258064" y="5423408"/>
                    <a:pt x="529463" y="5423408"/>
                  </a:cubicBezTo>
                  <a:lnTo>
                    <a:pt x="10134981" y="5423408"/>
                  </a:lnTo>
                  <a:cubicBezTo>
                    <a:pt x="10406380" y="5423408"/>
                    <a:pt x="10626344" y="5204079"/>
                    <a:pt x="10626344" y="4933696"/>
                  </a:cubicBezTo>
                  <a:lnTo>
                    <a:pt x="10626344" y="527812"/>
                  </a:lnTo>
                  <a:cubicBezTo>
                    <a:pt x="10626344" y="257429"/>
                    <a:pt x="10406380" y="38100"/>
                    <a:pt x="10134981" y="38100"/>
                  </a:cubicBezTo>
                  <a:lnTo>
                    <a:pt x="529463" y="38100"/>
                  </a:lnTo>
                  <a:lnTo>
                    <a:pt x="529463" y="19050"/>
                  </a:lnTo>
                  <a:lnTo>
                    <a:pt x="529463" y="38100"/>
                  </a:lnTo>
                  <a:cubicBezTo>
                    <a:pt x="258064" y="38100"/>
                    <a:pt x="38100" y="257429"/>
                    <a:pt x="38100" y="527812"/>
                  </a:cubicBezTo>
                  <a:close/>
                </a:path>
              </a:pathLst>
            </a:custGeom>
            <a:solidFill>
              <a:srgbClr val="D742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299674" y="2693938"/>
            <a:ext cx="7912596" cy="762893"/>
            <a:chOff x="0" y="0"/>
            <a:chExt cx="10550128" cy="10171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50017" cy="1017143"/>
            </a:xfrm>
            <a:custGeom>
              <a:avLst/>
              <a:gdLst/>
              <a:ahLst/>
              <a:cxnLst/>
              <a:rect r="r" b="b" t="t" l="l"/>
              <a:pathLst>
                <a:path h="1017143" w="10550017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lnTo>
                    <a:pt x="10087102" y="0"/>
                  </a:lnTo>
                  <a:cubicBezTo>
                    <a:pt x="10342753" y="0"/>
                    <a:pt x="10550017" y="207264"/>
                    <a:pt x="10550017" y="462915"/>
                  </a:cubicBezTo>
                  <a:lnTo>
                    <a:pt x="10550017" y="554228"/>
                  </a:lnTo>
                  <a:cubicBezTo>
                    <a:pt x="10550017" y="809879"/>
                    <a:pt x="10342753" y="1017143"/>
                    <a:pt x="10087102" y="1017143"/>
                  </a:cubicBezTo>
                  <a:lnTo>
                    <a:pt x="462915" y="1017143"/>
                  </a:lnTo>
                  <a:cubicBezTo>
                    <a:pt x="207264" y="1017143"/>
                    <a:pt x="0" y="809879"/>
                    <a:pt x="0" y="554228"/>
                  </a:cubicBezTo>
                  <a:close/>
                </a:path>
              </a:pathLst>
            </a:custGeom>
            <a:solidFill>
              <a:srgbClr val="00002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3065175" y="2870299"/>
            <a:ext cx="381446" cy="381446"/>
          </a:xfrm>
          <a:custGeom>
            <a:avLst/>
            <a:gdLst/>
            <a:ahLst/>
            <a:cxnLst/>
            <a:rect r="r" b="b" t="t" l="l"/>
            <a:pathLst>
              <a:path h="381446" w="381446">
                <a:moveTo>
                  <a:pt x="0" y="0"/>
                </a:moveTo>
                <a:lnTo>
                  <a:pt x="381446" y="0"/>
                </a:lnTo>
                <a:lnTo>
                  <a:pt x="381446" y="381446"/>
                </a:lnTo>
                <a:lnTo>
                  <a:pt x="0" y="3814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975" t="0" r="-1097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53872" y="3701504"/>
            <a:ext cx="4862959" cy="38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Tabla </a:t>
            </a:r>
            <a:r>
              <a:rPr lang="en-US" sz="2312" b="true">
                <a:solidFill>
                  <a:srgbClr val="F2B42D"/>
                </a:solidFill>
                <a:latin typeface="Nunito Bold"/>
                <a:ea typeface="Nunito Bold"/>
                <a:cs typeface="Nunito Bold"/>
                <a:sym typeface="Nunito Bold"/>
              </a:rPr>
              <a:t>stock</a:t>
            </a:r>
            <a:r>
              <a:rPr lang="en-US" sz="2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 (Datos Transaccionales)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3872" y="4170909"/>
            <a:ext cx="7404199" cy="47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Propósito:</a:t>
            </a: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El "inventario vivo" y dinámico.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53872" y="4666804"/>
            <a:ext cx="7404199" cy="47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Contenido:</a:t>
            </a: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Información variable (SKU, cantidad, bodega, fecha).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3872" y="5162699"/>
            <a:ext cx="7404199" cy="88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187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Función:</a:t>
            </a: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Escritura transaccional (Actualiza la cantidad en tiempo real).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7155" y="7104757"/>
            <a:ext cx="4488656" cy="45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La Potencia de este Modelo</a:t>
            </a:r>
          </a:p>
        </p:txBody>
      </p:sp>
      <p:sp>
        <p:nvSpPr>
          <p:cNvPr name="Freeform 28" id="28" descr="preencoded.png"/>
          <p:cNvSpPr/>
          <p:nvPr/>
        </p:nvSpPr>
        <p:spPr>
          <a:xfrm flipH="false" flipV="false" rot="0">
            <a:off x="1142554" y="7952407"/>
            <a:ext cx="381446" cy="381446"/>
          </a:xfrm>
          <a:custGeom>
            <a:avLst/>
            <a:gdLst/>
            <a:ahLst/>
            <a:cxnLst/>
            <a:rect r="r" b="b" t="t" l="l"/>
            <a:pathLst>
              <a:path h="381446" w="381446">
                <a:moveTo>
                  <a:pt x="0" y="0"/>
                </a:moveTo>
                <a:lnTo>
                  <a:pt x="381446" y="0"/>
                </a:lnTo>
                <a:lnTo>
                  <a:pt x="381446" y="381447"/>
                </a:lnTo>
                <a:lnTo>
                  <a:pt x="0" y="3814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317" t="0" r="-7317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873597" y="7935069"/>
            <a:ext cx="2992190" cy="38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Alto Rendimiento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6646366" y="7952407"/>
            <a:ext cx="381446" cy="381446"/>
          </a:xfrm>
          <a:custGeom>
            <a:avLst/>
            <a:gdLst/>
            <a:ahLst/>
            <a:cxnLst/>
            <a:rect r="r" b="b" t="t" l="l"/>
            <a:pathLst>
              <a:path h="381446" w="381446">
                <a:moveTo>
                  <a:pt x="0" y="0"/>
                </a:moveTo>
                <a:lnTo>
                  <a:pt x="381446" y="0"/>
                </a:lnTo>
                <a:lnTo>
                  <a:pt x="381446" y="381447"/>
                </a:lnTo>
                <a:lnTo>
                  <a:pt x="0" y="3814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317" t="0" r="-7317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377410" y="7935069"/>
            <a:ext cx="2992190" cy="38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Escalabilidad Masiva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12150179" y="7952407"/>
            <a:ext cx="381446" cy="381446"/>
          </a:xfrm>
          <a:custGeom>
            <a:avLst/>
            <a:gdLst/>
            <a:ahLst/>
            <a:cxnLst/>
            <a:rect r="r" b="b" t="t" l="l"/>
            <a:pathLst>
              <a:path h="381446" w="381446">
                <a:moveTo>
                  <a:pt x="0" y="0"/>
                </a:moveTo>
                <a:lnTo>
                  <a:pt x="381446" y="0"/>
                </a:lnTo>
                <a:lnTo>
                  <a:pt x="381446" y="381447"/>
                </a:lnTo>
                <a:lnTo>
                  <a:pt x="0" y="3814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7317" t="0" r="-7317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881222" y="7935069"/>
            <a:ext cx="2992190" cy="38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Flexibilidad Analítica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2656880"/>
            <a:ext cx="7040612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Stack Tecnológico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4068664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Una combinación de herramientas líderes de desarrollo y servicios de nube para construir una solución moderna y eficiente.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47155" y="497919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22" t="0" r="-1582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69170" y="5137696"/>
            <a:ext cx="4741366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Google Cloud Platform (GCP)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30929" y="497919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52944" y="5137696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BigQuery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47155" y="6325641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69170" y="6484144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Looker Studio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30929" y="6325641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52944" y="6484144"/>
            <a:ext cx="4746277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Android Studio / React Native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954435" y="1028700"/>
            <a:ext cx="4379130" cy="9258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623694" y="120104"/>
            <a:ext cx="7040612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5" y="902196"/>
            <a:ext cx="9335691" cy="169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Demostración del Sistema y Flujo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5" y="2933849"/>
            <a:ext cx="9335691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La solución permite una actualización y análisis de datos sin intervención manual, reduciendo la latencia de la información crítica de inventario.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47155" y="4248894"/>
            <a:ext cx="1421309" cy="1705570"/>
            <a:chOff x="0" y="0"/>
            <a:chExt cx="1895078" cy="227409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895094" cy="2274062"/>
            </a:xfrm>
            <a:custGeom>
              <a:avLst/>
              <a:gdLst/>
              <a:ahLst/>
              <a:cxnLst/>
              <a:rect r="r" b="b" t="t" l="l"/>
              <a:pathLst>
                <a:path h="2274062" w="1895094">
                  <a:moveTo>
                    <a:pt x="0" y="0"/>
                  </a:moveTo>
                  <a:lnTo>
                    <a:pt x="1895094" y="0"/>
                  </a:lnTo>
                  <a:lnTo>
                    <a:pt x="1895094" y="2274062"/>
                  </a:lnTo>
                  <a:lnTo>
                    <a:pt x="0" y="227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752725" y="4523631"/>
            <a:ext cx="4006304" cy="42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Paso 1: Escaneo en la App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047155" y="5954465"/>
            <a:ext cx="1421309" cy="1705570"/>
            <a:chOff x="0" y="0"/>
            <a:chExt cx="1895078" cy="227409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895094" cy="2274062"/>
            </a:xfrm>
            <a:custGeom>
              <a:avLst/>
              <a:gdLst/>
              <a:ahLst/>
              <a:cxnLst/>
              <a:rect r="r" b="b" t="t" l="l"/>
              <a:pathLst>
                <a:path h="2274062" w="1895094">
                  <a:moveTo>
                    <a:pt x="0" y="0"/>
                  </a:moveTo>
                  <a:lnTo>
                    <a:pt x="1895094" y="0"/>
                  </a:lnTo>
                  <a:lnTo>
                    <a:pt x="1895094" y="2274062"/>
                  </a:lnTo>
                  <a:lnTo>
                    <a:pt x="0" y="227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5" r="0" b="-5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752725" y="6229201"/>
            <a:ext cx="5217914" cy="42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Paso 2: Actualización en BigQuery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47155" y="7660035"/>
            <a:ext cx="1421309" cy="1705570"/>
            <a:chOff x="0" y="0"/>
            <a:chExt cx="1895078" cy="2274093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895094" cy="2274062"/>
            </a:xfrm>
            <a:custGeom>
              <a:avLst/>
              <a:gdLst/>
              <a:ahLst/>
              <a:cxnLst/>
              <a:rect r="r" b="b" t="t" l="l"/>
              <a:pathLst>
                <a:path h="2274062" w="1895094">
                  <a:moveTo>
                    <a:pt x="0" y="0"/>
                  </a:moveTo>
                  <a:lnTo>
                    <a:pt x="1895094" y="0"/>
                  </a:lnTo>
                  <a:lnTo>
                    <a:pt x="1895094" y="2274062"/>
                  </a:lnTo>
                  <a:lnTo>
                    <a:pt x="0" y="2274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5" r="0" b="-5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752725" y="7934771"/>
            <a:ext cx="5665142" cy="42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Paso 3: Visualización en Tiempo Real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856185"/>
            <a:ext cx="7091065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Resultados Obtenidos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47155" y="3363217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962" r="0" b="-696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7155" y="4466184"/>
            <a:ext cx="4264967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Aplicación Móvil Funcional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6569720" y="3363217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329" t="0" r="-632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69720" y="4466184"/>
            <a:ext cx="3879354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Plataforma Centralizada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2092285" y="3363217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392" r="0" b="-1139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92285" y="4466184"/>
            <a:ext cx="4704458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Visualización en Tiempo Real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47155" y="618187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531" t="0" r="-253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7155" y="7284839"/>
            <a:ext cx="3522910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Arquitectura Moderna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6569720" y="618187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632" t="0" r="-63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69720" y="7284839"/>
            <a:ext cx="3979218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Flujo de Datos Completo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1856185"/>
            <a:ext cx="7040612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Proyecciones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47155" y="3363217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329" t="0" r="-632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7155" y="4466184"/>
            <a:ext cx="4538662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Integración con E-commerce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6569720" y="3363217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227" r="0" b="-822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69720" y="4466184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Alertas de Stock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2092285" y="3363217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531" t="0" r="-253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92285" y="4466184"/>
            <a:ext cx="3796307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Módulo de Proveedores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47155" y="618187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531" r="0" b="-253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7155" y="7284839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Filtros Avanzado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6569720" y="6181874"/>
            <a:ext cx="748010" cy="748010"/>
          </a:xfrm>
          <a:custGeom>
            <a:avLst/>
            <a:gdLst/>
            <a:ahLst/>
            <a:cxnLst/>
            <a:rect r="r" b="b" t="t" l="l"/>
            <a:pathLst>
              <a:path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531" r="0" b="-253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69720" y="7284839"/>
            <a:ext cx="3520231" cy="45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Análisis Predictivo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DAG5FAClu2o</dc:identifier>
  <dcterms:modified xsi:type="dcterms:W3CDTF">2011-08-01T06:04:30Z</dcterms:modified>
  <cp:revision>1</cp:revision>
  <dc:title>Proyecto-Capstone.pptx</dc:title>
</cp:coreProperties>
</file>